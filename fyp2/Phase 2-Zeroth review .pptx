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92" r:id="rId5"/>
    <p:sldId id="271" r:id="rId6"/>
    <p:sldId id="264" r:id="rId7"/>
    <p:sldId id="261" r:id="rId8"/>
    <p:sldId id="265" r:id="rId9"/>
    <p:sldId id="273" r:id="rId10"/>
    <p:sldId id="286" r:id="rId11"/>
    <p:sldId id="293" r:id="rId12"/>
    <p:sldId id="294" r:id="rId13"/>
    <p:sldId id="295" r:id="rId14"/>
    <p:sldId id="296" r:id="rId15"/>
    <p:sldId id="297" r:id="rId16"/>
    <p:sldId id="298" r:id="rId17"/>
    <p:sldId id="29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ITRA N" initials="PN" lastIdx="1" clrIdx="0">
    <p:extLst>
      <p:ext uri="{19B8F6BF-5375-455C-9EA6-DF929625EA0E}">
        <p15:presenceInfo xmlns:p15="http://schemas.microsoft.com/office/powerpoint/2012/main" userId="PAVITRA 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A60C1A-3620-4188-A261-7B95856CF085}" v="42" dt="2026-01-19T06:00:07.58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vankumar R.L." userId="c3d247eabef8dbd2" providerId="LiveId" clId="{07E61E36-EE6D-4971-A873-0B36F27FC813}"/>
    <pc:docChg chg="modSld">
      <pc:chgData name="Phavankumar R.L." userId="c3d247eabef8dbd2" providerId="LiveId" clId="{07E61E36-EE6D-4971-A873-0B36F27FC813}" dt="2026-01-06T03:45:07.596" v="24"/>
      <pc:docMkLst>
        <pc:docMk/>
      </pc:docMkLst>
      <pc:sldChg chg="modSp mod">
        <pc:chgData name="Phavankumar R.L." userId="c3d247eabef8dbd2" providerId="LiveId" clId="{07E61E36-EE6D-4971-A873-0B36F27FC813}" dt="2026-01-06T03:43:02.051" v="7" actId="12"/>
        <pc:sldMkLst>
          <pc:docMk/>
          <pc:sldMk cId="0" sldId="260"/>
        </pc:sldMkLst>
        <pc:spChg chg="mod">
          <ac:chgData name="Phavankumar R.L." userId="c3d247eabef8dbd2" providerId="LiveId" clId="{07E61E36-EE6D-4971-A873-0B36F27FC813}" dt="2026-01-06T03:43:02.051" v="7" actId="12"/>
          <ac:spMkLst>
            <pc:docMk/>
            <pc:sldMk cId="0" sldId="260"/>
            <ac:spMk id="3" creationId="{00000000-0000-0000-0000-000000000000}"/>
          </ac:spMkLst>
        </pc:spChg>
      </pc:sldChg>
      <pc:sldChg chg="modSp mod">
        <pc:chgData name="Phavankumar R.L." userId="c3d247eabef8dbd2" providerId="LiveId" clId="{07E61E36-EE6D-4971-A873-0B36F27FC813}" dt="2026-01-06T03:43:52.488" v="14" actId="1076"/>
        <pc:sldMkLst>
          <pc:docMk/>
          <pc:sldMk cId="0" sldId="271"/>
        </pc:sldMkLst>
        <pc:spChg chg="mod">
          <ac:chgData name="Phavankumar R.L." userId="c3d247eabef8dbd2" providerId="LiveId" clId="{07E61E36-EE6D-4971-A873-0B36F27FC813}" dt="2026-01-06T03:43:52.488" v="14" actId="1076"/>
          <ac:spMkLst>
            <pc:docMk/>
            <pc:sldMk cId="0" sldId="271"/>
            <ac:spMk id="5" creationId="{00000000-0000-0000-0000-000000000000}"/>
          </ac:spMkLst>
        </pc:spChg>
      </pc:sldChg>
      <pc:sldChg chg="modSp mod">
        <pc:chgData name="Phavankumar R.L." userId="c3d247eabef8dbd2" providerId="LiveId" clId="{07E61E36-EE6D-4971-A873-0B36F27FC813}" dt="2026-01-06T03:45:07.596" v="24"/>
        <pc:sldMkLst>
          <pc:docMk/>
          <pc:sldMk cId="3759272074" sldId="292"/>
        </pc:sldMkLst>
        <pc:spChg chg="mod">
          <ac:chgData name="Phavankumar R.L." userId="c3d247eabef8dbd2" providerId="LiveId" clId="{07E61E36-EE6D-4971-A873-0B36F27FC813}" dt="2026-01-06T03:45:07.596" v="24"/>
          <ac:spMkLst>
            <pc:docMk/>
            <pc:sldMk cId="3759272074" sldId="292"/>
            <ac:spMk id="2" creationId="{C335F237-C08A-5E76-F7BD-4DE1C18EABB1}"/>
          </ac:spMkLst>
        </pc:spChg>
      </pc:sldChg>
    </pc:docChg>
  </pc:docChgLst>
  <pc:docChgLst>
    <pc:chgData name="Sashank Gopalan" userId="58619e170b27410b" providerId="LiveId" clId="{B7C28306-D375-4256-A011-C2EE47D0BEE2}"/>
    <pc:docChg chg="modSld">
      <pc:chgData name="Sashank Gopalan" userId="58619e170b27410b" providerId="LiveId" clId="{B7C28306-D375-4256-A011-C2EE47D0BEE2}" dt="2026-01-22T05:22:23.384" v="9" actId="20577"/>
      <pc:docMkLst>
        <pc:docMk/>
      </pc:docMkLst>
      <pc:sldChg chg="modSp mod">
        <pc:chgData name="Sashank Gopalan" userId="58619e170b27410b" providerId="LiveId" clId="{B7C28306-D375-4256-A011-C2EE47D0BEE2}" dt="2026-01-22T05:22:23.384" v="9" actId="20577"/>
        <pc:sldMkLst>
          <pc:docMk/>
          <pc:sldMk cId="0" sldId="256"/>
        </pc:sldMkLst>
        <pc:spChg chg="mod">
          <ac:chgData name="Sashank Gopalan" userId="58619e170b27410b" providerId="LiveId" clId="{B7C28306-D375-4256-A011-C2EE47D0BEE2}" dt="2026-01-22T05:22:23.384" v="9" actId="20577"/>
          <ac:spMkLst>
            <pc:docMk/>
            <pc:sldMk cId="0" sldId="25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22-Jan-26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22-Jan-26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22-Jan-26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22-Jan-26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22-Jan-26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3240" y="1760561"/>
            <a:ext cx="8428933" cy="848421"/>
          </a:xfrm>
        </p:spPr>
        <p:txBody>
          <a:bodyPr>
            <a:noAutofit/>
          </a:bodyPr>
          <a:lstStyle/>
          <a:p>
            <a:br>
              <a:rPr lang="en-US" sz="2800" dirty="0">
                <a:ea typeface="+mj-lt"/>
                <a:cs typeface="+mj-lt"/>
              </a:rPr>
            </a:br>
            <a:br>
              <a:rPr lang="en-US" sz="2800" dirty="0">
                <a:ea typeface="+mj-lt"/>
                <a:cs typeface="+mj-lt"/>
              </a:rPr>
            </a:br>
            <a:r>
              <a:rPr lang="en-US" sz="2800" dirty="0">
                <a:ea typeface="+mj-lt"/>
                <a:cs typeface="+mj-lt"/>
              </a:rPr>
              <a:t>0</a:t>
            </a:r>
            <a:r>
              <a:rPr lang="en-US" sz="2800" baseline="30000" dirty="0">
                <a:ea typeface="+mj-lt"/>
                <a:cs typeface="+mj-lt"/>
              </a:rPr>
              <a:t>TH</a:t>
            </a:r>
            <a:r>
              <a:rPr lang="en-US" sz="2800" dirty="0">
                <a:ea typeface="+mj-lt"/>
                <a:cs typeface="+mj-lt"/>
              </a:rPr>
              <a:t> REVIEW PPT</a:t>
            </a:r>
            <a:br>
              <a:rPr lang="en-US" sz="2800" dirty="0">
                <a:ea typeface="+mj-lt"/>
                <a:cs typeface="+mj-lt"/>
              </a:rPr>
            </a:br>
            <a:br>
              <a:rPr lang="en-US" sz="2800" dirty="0">
                <a:ea typeface="+mj-lt"/>
                <a:cs typeface="+mj-lt"/>
              </a:rPr>
            </a:br>
            <a:br>
              <a:rPr lang="en-US" sz="2800" dirty="0"/>
            </a:br>
            <a:r>
              <a:rPr lang="en-US" sz="2800" dirty="0"/>
              <a:t> </a:t>
            </a:r>
            <a:r>
              <a:rPr lang="en-US" sz="2800" b="1" dirty="0"/>
              <a:t>A Self-Supervised Behavioral Graph Framework for Zero-Day Cyber Attack Detection with Continual Learning </a:t>
            </a:r>
            <a:endParaRPr lang="en-US" sz="2800"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t>  </a:t>
            </a:r>
          </a:p>
        </p:txBody>
      </p:sp>
      <p:sp>
        <p:nvSpPr>
          <p:cNvPr id="4" name="Subtitle 2"/>
          <p:cNvSpPr>
            <a:spLocks noGrp="1"/>
          </p:cNvSpPr>
          <p:nvPr/>
        </p:nvSpPr>
        <p:spPr>
          <a:xfrm>
            <a:off x="3052717" y="2807820"/>
            <a:ext cx="7767449" cy="1940767"/>
          </a:xfrm>
          <a:prstGeom prst="rect">
            <a:avLst/>
          </a:prstGeom>
        </p:spPr>
        <p:txBody>
          <a:bodyPr vert="horz" lIns="91440" tIns="45720" rIns="91440" bIns="45720" rtlCol="0" anchor="t">
            <a:noAutofit/>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pPr algn="r"/>
            <a:r>
              <a:rPr lang="en-US" sz="1800" b="1" dirty="0">
                <a:solidFill>
                  <a:schemeClr val="tx1"/>
                </a:solidFill>
              </a:rPr>
              <a:t>Phavankumar RL </a:t>
            </a: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rPr>
              <a:t>2022115054</a:t>
            </a:r>
            <a:r>
              <a:rPr lang="en-US" sz="1800" b="1" dirty="0">
                <a:solidFill>
                  <a:schemeClr val="tx1"/>
                </a:solidFill>
              </a:rPr>
              <a:t> </a:t>
            </a:r>
          </a:p>
          <a:p>
            <a:pPr algn="r"/>
            <a:r>
              <a:rPr lang="en-US" sz="1800" b="1" dirty="0">
                <a:solidFill>
                  <a:schemeClr val="tx1"/>
                </a:solidFill>
              </a:rPr>
              <a:t>KAVISH S </a:t>
            </a: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rPr>
              <a:t>2022115001</a:t>
            </a:r>
          </a:p>
          <a:p>
            <a:pPr algn="r"/>
            <a:r>
              <a:rPr lang="en-US" sz="1800" b="1" dirty="0">
                <a:solidFill>
                  <a:schemeClr val="tx1"/>
                </a:solidFill>
              </a:rPr>
              <a:t> SASHANK GOPALAN </a:t>
            </a: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rPr>
              <a:t>2022115051</a:t>
            </a:r>
            <a:r>
              <a:rPr lang="en-US" sz="1800" b="1" dirty="0">
                <a:solidFill>
                  <a:schemeClr val="tx1"/>
                </a:solidFill>
              </a:rPr>
              <a:t> </a:t>
            </a:r>
          </a:p>
          <a:p>
            <a:pPr algn="r"/>
            <a:r>
              <a:rPr lang="en-US" sz="1800" b="1" dirty="0">
                <a:solidFill>
                  <a:schemeClr val="tx1"/>
                </a:solidFill>
              </a:rPr>
              <a:t>SHREYAS S </a:t>
            </a: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rPr>
              <a:t>2022115046</a:t>
            </a:r>
          </a:p>
          <a:p>
            <a:pPr algn="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rPr>
              <a:t>Guided by:</a:t>
            </a:r>
          </a:p>
          <a:p>
            <a:pPr algn="r"/>
            <a:r>
              <a:rPr lang="en-US" sz="1800" b="1" dirty="0">
                <a:solidFill>
                  <a:schemeClr val="tx1"/>
                </a:solidFill>
              </a:rPr>
              <a:t>Dr. K. Vidya</a:t>
            </a:r>
            <a:endParaRPr lang="en-US" sz="1800" dirty="0">
              <a:solidFill>
                <a:schemeClr val="tx1"/>
              </a:solidFill>
            </a:endParaRPr>
          </a:p>
          <a:p>
            <a:pPr algn="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ea typeface="+mn-lt"/>
                <a:cs typeface="+mn-lt"/>
              </a:rPr>
              <a:t>Associate Professor</a:t>
            </a:r>
            <a:endParaRPr lang="en-US" sz="1800" dirty="0">
              <a:solidFill>
                <a:schemeClr val="tx1"/>
              </a:solidFill>
            </a:endParaRPr>
          </a:p>
          <a:p>
            <a:pPr algn="r"/>
            <a:r>
              <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ea typeface="+mn-lt"/>
                <a:cs typeface="+mn-lt"/>
              </a:rPr>
              <a:t>Department </a:t>
            </a:r>
            <a:r>
              <a:rPr lang="en-US" sz="180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ea typeface="+mn-lt"/>
                <a:cs typeface="+mn-lt"/>
              </a:rPr>
              <a:t>of it</a:t>
            </a:r>
            <a:endPar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endParaRPr>
          </a:p>
          <a:p>
            <a:pPr algn="r"/>
            <a:endPar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endParaRPr>
          </a:p>
          <a:p>
            <a:pPr algn="r"/>
            <a:endParaRPr lang="en-US" sz="1800" dirty="0">
              <a:ln>
                <a:solidFill>
                  <a:srgbClr val="000000">
                    <a:lumMod val="75000"/>
                    <a:lumOff val="25000"/>
                    <a:alpha val="10000"/>
                  </a:srgbClr>
                </a:solidFill>
              </a:ln>
              <a:solidFill>
                <a:schemeClr val="tx1"/>
              </a:solidFill>
              <a:effectLst>
                <a:outerShdw blurRad="9525" dist="25400" dir="14640000" algn="tl" rotWithShape="0">
                  <a:srgbClr val="000000">
                    <a:alpha val="30000"/>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77265" y="502508"/>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4000" b="1" u="sng" cap="all">
                <a:latin typeface="Tw Cen MT" panose="020B0602020104020603"/>
              </a:rPr>
              <a:t>AGENDA</a:t>
            </a:r>
            <a:r>
              <a:rPr lang="en-US" sz="4000" cap="all">
                <a:latin typeface="Tw Cen MT" panose="020B0602020104020603"/>
              </a:rPr>
              <a:t>​</a:t>
            </a:r>
            <a:endParaRPr lang="en-US" sz="4000"/>
          </a:p>
        </p:txBody>
      </p:sp>
      <p:sp>
        <p:nvSpPr>
          <p:cNvPr id="3" name="Content Placeholder 2"/>
          <p:cNvSpPr>
            <a:spLocks noGrp="1"/>
          </p:cNvSpPr>
          <p:nvPr/>
        </p:nvSpPr>
        <p:spPr>
          <a:xfrm>
            <a:off x="770237" y="1390393"/>
            <a:ext cx="11012555" cy="4443539"/>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285750" indent="-285750">
              <a:buFont typeface="Arial" panose="020B0604020202020204"/>
              <a:buChar char="•"/>
            </a:pPr>
            <a:r>
              <a:rPr lang="en-US" dirty="0"/>
              <a:t>Introduction</a:t>
            </a:r>
          </a:p>
          <a:p>
            <a:pPr marL="742950" lvl="1" indent="-285750">
              <a:buFont typeface="Courier New" panose="02070309020205020404"/>
              <a:buChar char="o"/>
            </a:pPr>
            <a:r>
              <a:rPr lang="en-US" dirty="0"/>
              <a:t>Aim</a:t>
            </a:r>
          </a:p>
          <a:p>
            <a:pPr marL="742950" lvl="1" indent="-285750">
              <a:buFont typeface="Courier New" panose="02070309020205020404"/>
              <a:buChar char="o"/>
            </a:pPr>
            <a:r>
              <a:rPr lang="en-US" dirty="0"/>
              <a:t>Objective</a:t>
            </a:r>
          </a:p>
          <a:p>
            <a:pPr marL="285750" indent="-285750">
              <a:buClr>
                <a:prstClr val="black"/>
              </a:buClr>
              <a:buFont typeface="Arial,Sans-Serif" panose="020B0604020202020204"/>
              <a:buChar char="•"/>
            </a:pPr>
            <a:r>
              <a:rPr lang="en-US" sz="1900" dirty="0"/>
              <a:t>Problem statement</a:t>
            </a:r>
            <a:endParaRPr lang="en-US" dirty="0"/>
          </a:p>
          <a:p>
            <a:pPr marL="285750" indent="-285750">
              <a:buClr>
                <a:srgbClr val="000000"/>
              </a:buClr>
              <a:buFont typeface="Arial,Sans-Serif" panose="020B0604020202020204"/>
              <a:buChar char="•"/>
            </a:pPr>
            <a:r>
              <a:rPr lang="en-US" sz="1900" dirty="0"/>
              <a:t>Literature Survey</a:t>
            </a:r>
          </a:p>
          <a:p>
            <a:pPr marL="285750" indent="-285750">
              <a:buClr>
                <a:srgbClr val="000000"/>
              </a:buClr>
              <a:buFont typeface="Arial" panose="020B0604020202020204"/>
              <a:buChar char="•"/>
            </a:pPr>
            <a:r>
              <a:rPr lang="en-US" dirty="0"/>
              <a:t>Summary of literature survey </a:t>
            </a:r>
          </a:p>
          <a:p>
            <a:pPr marL="285750" indent="-285750">
              <a:buFont typeface="Arial" panose="020B0604020202020204"/>
              <a:buChar char="•"/>
            </a:pPr>
            <a:r>
              <a:rPr lang="en-US" dirty="0"/>
              <a:t>Architecture diagram</a:t>
            </a:r>
          </a:p>
          <a:p>
            <a:pPr marL="285750" indent="-285750">
              <a:buFont typeface="Arial" panose="020B0604020202020204"/>
              <a:buChar char="•"/>
            </a:pPr>
            <a:r>
              <a:rPr lang="en-US" dirty="0"/>
              <a:t>Modules</a:t>
            </a:r>
          </a:p>
          <a:p>
            <a:pPr marL="285750" indent="-285750">
              <a:buFont typeface="Arial" panose="020B0604020202020204"/>
              <a:buChar char="•"/>
            </a:pPr>
            <a:r>
              <a:rPr lang="en-US" dirty="0"/>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3048105" y="212644"/>
            <a:ext cx="6096000" cy="76835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4400" b="1" dirty="0">
                <a:latin typeface="Arial" panose="020B0604020202020204" pitchFamily="34" charset="0"/>
                <a:cs typeface="Arial" panose="020B0604020202020204" pitchFamily="34" charset="0"/>
              </a:rPr>
              <a:t>INTRODUCTION</a:t>
            </a:r>
          </a:p>
        </p:txBody>
      </p:sp>
      <p:sp>
        <p:nvSpPr>
          <p:cNvPr id="3" name="TextBox 1"/>
          <p:cNvSpPr txBox="1"/>
          <p:nvPr/>
        </p:nvSpPr>
        <p:spPr>
          <a:xfrm>
            <a:off x="792661" y="1325538"/>
            <a:ext cx="10819868" cy="4893647"/>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dirty="0"/>
              <a:t>Zero-day attacks pose a serious challenge to modern cybersecurity because they exploit unknown vulnerabilities and do not match any existing signatures or labeled attack data, rendering traditional rule-based and supervised detection systems ineffective. This project is based on the idea that any successful attack must eventually deviate from normal system behavior, regardless of how novel or sophisticated it is. </a:t>
            </a:r>
          </a:p>
          <a:p>
            <a:endParaRPr lang="en-US" sz="2400" dirty="0"/>
          </a:p>
          <a:p>
            <a:r>
              <a:rPr lang="en-US" sz="2400" dirty="0"/>
              <a:t>Instead of attempting to recognize known attacks, the approach focuses on learning normal behavior directly from unlabeled system activity and identifying deviations as potential threats. By adopting a behavior centric and self supervised learning strategy, the project aims to detect previously unseen zero day attacks while remaining adaptive, reliable, and suitable for real world cybersecurity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5F237-C08A-5E76-F7BD-4DE1C18EABB1}"/>
              </a:ext>
            </a:extLst>
          </p:cNvPr>
          <p:cNvSpPr txBox="1"/>
          <p:nvPr/>
        </p:nvSpPr>
        <p:spPr>
          <a:xfrm>
            <a:off x="667265" y="524737"/>
            <a:ext cx="10857469" cy="785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ts val="1800"/>
              </a:lnSpc>
            </a:pPr>
            <a:r>
              <a:rPr lang="en-US" sz="4400" b="1" dirty="0">
                <a:latin typeface="Arial" panose="020B0604020202020204" pitchFamily="34" charset="0"/>
                <a:cs typeface="Arial" panose="020B0604020202020204" pitchFamily="34" charset="0"/>
              </a:rPr>
              <a:t>OBJECTIVE</a:t>
            </a:r>
          </a:p>
          <a:p>
            <a:pPr algn="ctr">
              <a:lnSpc>
                <a:spcPts val="1800"/>
              </a:lnSpc>
            </a:pPr>
            <a:endParaRPr lang="en-US" sz="4400" b="1" dirty="0">
              <a:latin typeface="Arial" panose="020B0604020202020204" pitchFamily="34" charset="0"/>
              <a:cs typeface="Arial" panose="020B0604020202020204" pitchFamily="34" charset="0"/>
            </a:endParaRPr>
          </a:p>
          <a:p>
            <a:pPr algn="just">
              <a:lnSpc>
                <a:spcPts val="1800"/>
              </a:lnSpc>
            </a:pPr>
            <a:endParaRPr lang="en-US" sz="2000" dirty="0">
              <a:latin typeface="Arial"/>
              <a:cs typeface="Arial"/>
            </a:endParaRPr>
          </a:p>
        </p:txBody>
      </p:sp>
      <p:sp>
        <p:nvSpPr>
          <p:cNvPr id="3" name="Rectangle 1">
            <a:extLst>
              <a:ext uri="{FF2B5EF4-FFF2-40B4-BE49-F238E27FC236}">
                <a16:creationId xmlns:a16="http://schemas.microsoft.com/office/drawing/2014/main" id="{43D45438-1EA9-01A0-3E40-E6CE307E8D8A}"/>
              </a:ext>
            </a:extLst>
          </p:cNvPr>
          <p:cNvSpPr>
            <a:spLocks noChangeArrowheads="1"/>
          </p:cNvSpPr>
          <p:nvPr/>
        </p:nvSpPr>
        <p:spPr bwMode="auto">
          <a:xfrm>
            <a:off x="141027" y="1070284"/>
            <a:ext cx="1205097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learn and model normal system behavior directly from unlabeled operational data using a behavior centric and self supervised learning approach.</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detect previously unseen zero day attacks by identifying deviations from learned normal behavior rather than relying on predefined signatures or attack labels.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capture complex and multi stage attack patterns by representing system activity through behavioral relationships and interactions.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adapt continuously to evolving system behavior and emerging threats while preserving previously acquired knowledge.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generate reliable and interpretable security alerts that support effective decision making in real world cybersecurity environments.</a:t>
            </a:r>
          </a:p>
        </p:txBody>
      </p:sp>
    </p:spTree>
    <p:extLst>
      <p:ext uri="{BB962C8B-B14F-4D97-AF65-F5344CB8AC3E}">
        <p14:creationId xmlns:p14="http://schemas.microsoft.com/office/powerpoint/2010/main" val="3759272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04665" y="510988"/>
            <a:ext cx="714711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4400" b="1" cap="all">
                <a:latin typeface="Tw Cen MT" panose="020B0602020104020603"/>
              </a:rPr>
              <a:t>Problem statement</a:t>
            </a:r>
            <a:endParaRPr lang="en-US" sz="4400" b="1"/>
          </a:p>
        </p:txBody>
      </p:sp>
      <p:sp>
        <p:nvSpPr>
          <p:cNvPr id="5" name="TextBox 4"/>
          <p:cNvSpPr txBox="1"/>
          <p:nvPr/>
        </p:nvSpPr>
        <p:spPr>
          <a:xfrm>
            <a:off x="958495" y="1467935"/>
            <a:ext cx="1027501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dirty="0"/>
              <a:t>Zero-day attacks exploit previously unknown vulnerabilities and operate without identifiable signatures, making them extremely difficult to detect using traditional security mechanisms. Most existing intrusion detection systems rely on predefined rules, known attack patterns, or supervised learning models trained on historical datasets. These approaches fail to generalize to unseen threats and often produce high false positive rates when deployed in dynamic real world environments, limiting their effectiveness against evolving attack strategies.</a:t>
            </a:r>
          </a:p>
          <a:p>
            <a:endParaRPr lang="en-US" sz="2000" dirty="0"/>
          </a:p>
          <a:p>
            <a:r>
              <a:rPr lang="en-US" sz="2000" dirty="0"/>
              <a:t>There is a need for an intelligent detection approach that does not depend on prior knowledge of attacks but instead understands and models normal system behavior to identify malicious deviations. Such a system must be capable of learning from unlabeled data, adapting continuously to changing system dynamics, and detecting complex multi stage attack behavior while maintaining reliability and interpretability. Addressing these challenges forms the core problem addressed by this project.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6CD6B1F-A850-41CE-676F-0AB3F0B777B4}"/>
              </a:ext>
            </a:extLst>
          </p:cNvPr>
          <p:cNvGraphicFramePr>
            <a:graphicFrameLocks noGrp="1"/>
          </p:cNvGraphicFramePr>
          <p:nvPr>
            <p:extLst>
              <p:ext uri="{D42A27DB-BD31-4B8C-83A1-F6EECF244321}">
                <p14:modId xmlns:p14="http://schemas.microsoft.com/office/powerpoint/2010/main" val="86363057"/>
              </p:ext>
            </p:extLst>
          </p:nvPr>
        </p:nvGraphicFramePr>
        <p:xfrm>
          <a:off x="231685" y="460745"/>
          <a:ext cx="11601085" cy="5439311"/>
        </p:xfrm>
        <a:graphic>
          <a:graphicData uri="http://schemas.openxmlformats.org/drawingml/2006/table">
            <a:tbl>
              <a:tblPr>
                <a:tableStyleId>{D7AC3CCA-C797-4891-BE02-D94E43425B78}</a:tableStyleId>
              </a:tblPr>
              <a:tblGrid>
                <a:gridCol w="2320217">
                  <a:extLst>
                    <a:ext uri="{9D8B030D-6E8A-4147-A177-3AD203B41FA5}">
                      <a16:colId xmlns:a16="http://schemas.microsoft.com/office/drawing/2014/main" val="2164061157"/>
                    </a:ext>
                  </a:extLst>
                </a:gridCol>
                <a:gridCol w="2320217">
                  <a:extLst>
                    <a:ext uri="{9D8B030D-6E8A-4147-A177-3AD203B41FA5}">
                      <a16:colId xmlns:a16="http://schemas.microsoft.com/office/drawing/2014/main" val="2507687497"/>
                    </a:ext>
                  </a:extLst>
                </a:gridCol>
                <a:gridCol w="2320217">
                  <a:extLst>
                    <a:ext uri="{9D8B030D-6E8A-4147-A177-3AD203B41FA5}">
                      <a16:colId xmlns:a16="http://schemas.microsoft.com/office/drawing/2014/main" val="3270904189"/>
                    </a:ext>
                  </a:extLst>
                </a:gridCol>
                <a:gridCol w="2320217">
                  <a:extLst>
                    <a:ext uri="{9D8B030D-6E8A-4147-A177-3AD203B41FA5}">
                      <a16:colId xmlns:a16="http://schemas.microsoft.com/office/drawing/2014/main" val="1850713067"/>
                    </a:ext>
                  </a:extLst>
                </a:gridCol>
                <a:gridCol w="2320217">
                  <a:extLst>
                    <a:ext uri="{9D8B030D-6E8A-4147-A177-3AD203B41FA5}">
                      <a16:colId xmlns:a16="http://schemas.microsoft.com/office/drawing/2014/main" val="3067218348"/>
                    </a:ext>
                  </a:extLst>
                </a:gridCol>
              </a:tblGrid>
              <a:tr h="584906">
                <a:tc>
                  <a:txBody>
                    <a:bodyPr/>
                    <a:lstStyle/>
                    <a:p>
                      <a:pPr>
                        <a:buNone/>
                      </a:pPr>
                      <a:r>
                        <a:rPr lang="en-IN" sz="1400" b="1"/>
                        <a:t>Paper Title / Publisher / Year</a:t>
                      </a:r>
                      <a:endParaRPr lang="en-IN" sz="1400"/>
                    </a:p>
                  </a:txBody>
                  <a:tcPr marL="70183" marR="70183" marT="35091" marB="35091" anchor="ctr"/>
                </a:tc>
                <a:tc>
                  <a:txBody>
                    <a:bodyPr/>
                    <a:lstStyle/>
                    <a:p>
                      <a:pPr>
                        <a:buNone/>
                      </a:pPr>
                      <a:r>
                        <a:rPr lang="en-IN" sz="1400" b="1"/>
                        <a:t>Problem Statement</a:t>
                      </a:r>
                      <a:endParaRPr lang="en-IN" sz="1400"/>
                    </a:p>
                  </a:txBody>
                  <a:tcPr marL="70183" marR="70183" marT="35091" marB="35091" anchor="ctr"/>
                </a:tc>
                <a:tc>
                  <a:txBody>
                    <a:bodyPr/>
                    <a:lstStyle/>
                    <a:p>
                      <a:pPr>
                        <a:buNone/>
                      </a:pPr>
                      <a:r>
                        <a:rPr lang="en-IN" sz="1400" b="1"/>
                        <a:t>Methodology</a:t>
                      </a:r>
                      <a:endParaRPr lang="en-IN" sz="1400"/>
                    </a:p>
                  </a:txBody>
                  <a:tcPr marL="70183" marR="70183" marT="35091" marB="35091" anchor="ctr"/>
                </a:tc>
                <a:tc>
                  <a:txBody>
                    <a:bodyPr/>
                    <a:lstStyle/>
                    <a:p>
                      <a:pPr>
                        <a:buNone/>
                      </a:pPr>
                      <a:r>
                        <a:rPr lang="en-IN" sz="1400" b="1"/>
                        <a:t>Pros</a:t>
                      </a:r>
                      <a:endParaRPr lang="en-IN" sz="1400"/>
                    </a:p>
                  </a:txBody>
                  <a:tcPr marL="70183" marR="70183" marT="35091" marB="35091" anchor="ctr"/>
                </a:tc>
                <a:tc>
                  <a:txBody>
                    <a:bodyPr/>
                    <a:lstStyle/>
                    <a:p>
                      <a:pPr>
                        <a:buNone/>
                      </a:pPr>
                      <a:r>
                        <a:rPr lang="en-IN" sz="1400" b="1"/>
                        <a:t>Cons</a:t>
                      </a:r>
                      <a:endParaRPr lang="en-IN" sz="1400"/>
                    </a:p>
                  </a:txBody>
                  <a:tcPr marL="70183" marR="70183" marT="35091" marB="35091" anchor="ctr"/>
                </a:tc>
                <a:extLst>
                  <a:ext uri="{0D108BD9-81ED-4DB2-BD59-A6C34878D82A}">
                    <a16:rowId xmlns:a16="http://schemas.microsoft.com/office/drawing/2014/main" val="2360323807"/>
                  </a:ext>
                </a:extLst>
              </a:tr>
              <a:tr h="4854405">
                <a:tc>
                  <a:txBody>
                    <a:bodyPr/>
                    <a:lstStyle/>
                    <a:p>
                      <a:pPr>
                        <a:buNone/>
                      </a:pPr>
                      <a:r>
                        <a:rPr lang="en-US" sz="1400" dirty="0"/>
                        <a:t>An Intrusion Detection Model to Detect Zero-Day Attacks in Unseen Data Using Machine Learning, 2025</a:t>
                      </a:r>
                    </a:p>
                  </a:txBody>
                  <a:tcPr marL="70183" marR="70183" marT="35091" marB="35091" anchor="ctr"/>
                </a:tc>
                <a:tc>
                  <a:txBody>
                    <a:bodyPr/>
                    <a:lstStyle/>
                    <a:p>
                      <a:pPr>
                        <a:buNone/>
                      </a:pPr>
                      <a:r>
                        <a:rPr lang="en-US" sz="1400" dirty="0"/>
                        <a:t>Existing intrusion detection systems struggle to detect zero-day attacks because they rely on known patterns and labeled data, leading to poor generalization on unseen threats.</a:t>
                      </a:r>
                    </a:p>
                  </a:txBody>
                  <a:tcPr marL="70183" marR="70183" marT="35091" marB="35091" anchor="ctr"/>
                </a:tc>
                <a:tc>
                  <a:txBody>
                    <a:bodyPr/>
                    <a:lstStyle/>
                    <a:p>
                      <a:pPr>
                        <a:buNone/>
                      </a:pPr>
                      <a:r>
                        <a:rPr lang="en-US" sz="1400" dirty="0"/>
                        <a:t>An autoencoder is trained on normal data to perform anomaly detection, and its reconstruction error is combined with Random Forest and </a:t>
                      </a:r>
                      <a:r>
                        <a:rPr lang="en-US" sz="1400" dirty="0" err="1"/>
                        <a:t>XGBoost</a:t>
                      </a:r>
                      <a:r>
                        <a:rPr lang="en-US" sz="1400" dirty="0"/>
                        <a:t> classifiers to improve detection on unseen data.</a:t>
                      </a:r>
                    </a:p>
                  </a:txBody>
                  <a:tcPr marL="70183" marR="70183" marT="35091" marB="35091" anchor="ctr"/>
                </a:tc>
                <a:tc>
                  <a:txBody>
                    <a:bodyPr/>
                    <a:lstStyle/>
                    <a:p>
                      <a:pPr>
                        <a:buNone/>
                      </a:pPr>
                      <a:r>
                        <a:rPr lang="en-US" sz="1400" dirty="0"/>
                        <a:t>High accuracy on unseen data, effective anomaly detection, strong performance on benchmark datasets.</a:t>
                      </a:r>
                    </a:p>
                  </a:txBody>
                  <a:tcPr marL="70183" marR="70183" marT="35091" marB="35091" anchor="ctr"/>
                </a:tc>
                <a:tc>
                  <a:txBody>
                    <a:bodyPr/>
                    <a:lstStyle/>
                    <a:p>
                      <a:r>
                        <a:rPr lang="en-US" sz="1400" dirty="0"/>
                        <a:t>Relies on handcrafted features, limited behavioral relationship modeling, high computational cost, lacks continual learning capability. </a:t>
                      </a:r>
                    </a:p>
                  </a:txBody>
                  <a:tcPr marL="70183" marR="70183" marT="35091" marB="35091" anchor="ctr"/>
                </a:tc>
                <a:extLst>
                  <a:ext uri="{0D108BD9-81ED-4DB2-BD59-A6C34878D82A}">
                    <a16:rowId xmlns:a16="http://schemas.microsoft.com/office/drawing/2014/main" val="13476425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41ACF96-9D29-F1BC-1D9F-9F2A8B7983B7}"/>
              </a:ext>
            </a:extLst>
          </p:cNvPr>
          <p:cNvGraphicFramePr>
            <a:graphicFrameLocks noGrp="1"/>
          </p:cNvGraphicFramePr>
          <p:nvPr>
            <p:extLst>
              <p:ext uri="{D42A27DB-BD31-4B8C-83A1-F6EECF244321}">
                <p14:modId xmlns:p14="http://schemas.microsoft.com/office/powerpoint/2010/main" val="1007112748"/>
              </p:ext>
            </p:extLst>
          </p:nvPr>
        </p:nvGraphicFramePr>
        <p:xfrm>
          <a:off x="415756" y="839305"/>
          <a:ext cx="11471445" cy="5129979"/>
        </p:xfrm>
        <a:graphic>
          <a:graphicData uri="http://schemas.openxmlformats.org/drawingml/2006/table">
            <a:tbl>
              <a:tblPr>
                <a:tableStyleId>{D7AC3CCA-C797-4891-BE02-D94E43425B78}</a:tableStyleId>
              </a:tblPr>
              <a:tblGrid>
                <a:gridCol w="2294289">
                  <a:extLst>
                    <a:ext uri="{9D8B030D-6E8A-4147-A177-3AD203B41FA5}">
                      <a16:colId xmlns:a16="http://schemas.microsoft.com/office/drawing/2014/main" val="2474510233"/>
                    </a:ext>
                  </a:extLst>
                </a:gridCol>
                <a:gridCol w="2294289">
                  <a:extLst>
                    <a:ext uri="{9D8B030D-6E8A-4147-A177-3AD203B41FA5}">
                      <a16:colId xmlns:a16="http://schemas.microsoft.com/office/drawing/2014/main" val="753640739"/>
                    </a:ext>
                  </a:extLst>
                </a:gridCol>
                <a:gridCol w="2294289">
                  <a:extLst>
                    <a:ext uri="{9D8B030D-6E8A-4147-A177-3AD203B41FA5}">
                      <a16:colId xmlns:a16="http://schemas.microsoft.com/office/drawing/2014/main" val="2038752626"/>
                    </a:ext>
                  </a:extLst>
                </a:gridCol>
                <a:gridCol w="2294289">
                  <a:extLst>
                    <a:ext uri="{9D8B030D-6E8A-4147-A177-3AD203B41FA5}">
                      <a16:colId xmlns:a16="http://schemas.microsoft.com/office/drawing/2014/main" val="1241319821"/>
                    </a:ext>
                  </a:extLst>
                </a:gridCol>
                <a:gridCol w="2294289">
                  <a:extLst>
                    <a:ext uri="{9D8B030D-6E8A-4147-A177-3AD203B41FA5}">
                      <a16:colId xmlns:a16="http://schemas.microsoft.com/office/drawing/2014/main" val="4104218682"/>
                    </a:ext>
                  </a:extLst>
                </a:gridCol>
              </a:tblGrid>
              <a:tr h="641247">
                <a:tc>
                  <a:txBody>
                    <a:bodyPr/>
                    <a:lstStyle/>
                    <a:p>
                      <a:pPr>
                        <a:buNone/>
                      </a:pPr>
                      <a:r>
                        <a:rPr lang="en-IN" sz="1500" b="1"/>
                        <a:t>Paper Title / Publisher / Year</a:t>
                      </a:r>
                      <a:endParaRPr lang="en-IN" sz="1500"/>
                    </a:p>
                  </a:txBody>
                  <a:tcPr marL="77702" marR="77702" marT="38851" marB="38851" anchor="ctr"/>
                </a:tc>
                <a:tc>
                  <a:txBody>
                    <a:bodyPr/>
                    <a:lstStyle/>
                    <a:p>
                      <a:pPr>
                        <a:buNone/>
                      </a:pPr>
                      <a:r>
                        <a:rPr lang="en-IN" sz="1500" b="1"/>
                        <a:t>Problem Statement</a:t>
                      </a:r>
                      <a:endParaRPr lang="en-IN" sz="1500"/>
                    </a:p>
                  </a:txBody>
                  <a:tcPr marL="77702" marR="77702" marT="38851" marB="38851" anchor="ctr"/>
                </a:tc>
                <a:tc>
                  <a:txBody>
                    <a:bodyPr/>
                    <a:lstStyle/>
                    <a:p>
                      <a:pPr>
                        <a:buNone/>
                      </a:pPr>
                      <a:r>
                        <a:rPr lang="en-IN" sz="1500" b="1"/>
                        <a:t>Methodology</a:t>
                      </a:r>
                      <a:endParaRPr lang="en-IN" sz="1500"/>
                    </a:p>
                  </a:txBody>
                  <a:tcPr marL="77702" marR="77702" marT="38851" marB="38851" anchor="ctr"/>
                </a:tc>
                <a:tc>
                  <a:txBody>
                    <a:bodyPr/>
                    <a:lstStyle/>
                    <a:p>
                      <a:pPr>
                        <a:buNone/>
                      </a:pPr>
                      <a:r>
                        <a:rPr lang="en-IN" sz="1500" b="1"/>
                        <a:t>Pros</a:t>
                      </a:r>
                      <a:endParaRPr lang="en-IN" sz="1500"/>
                    </a:p>
                  </a:txBody>
                  <a:tcPr marL="77702" marR="77702" marT="38851" marB="38851" anchor="ctr"/>
                </a:tc>
                <a:tc>
                  <a:txBody>
                    <a:bodyPr/>
                    <a:lstStyle/>
                    <a:p>
                      <a:pPr>
                        <a:buNone/>
                      </a:pPr>
                      <a:r>
                        <a:rPr lang="en-IN" sz="1500" b="1"/>
                        <a:t>Cons</a:t>
                      </a:r>
                      <a:endParaRPr lang="en-IN" sz="1500"/>
                    </a:p>
                  </a:txBody>
                  <a:tcPr marL="77702" marR="77702" marT="38851" marB="38851" anchor="ctr"/>
                </a:tc>
                <a:extLst>
                  <a:ext uri="{0D108BD9-81ED-4DB2-BD59-A6C34878D82A}">
                    <a16:rowId xmlns:a16="http://schemas.microsoft.com/office/drawing/2014/main" val="2747035256"/>
                  </a:ext>
                </a:extLst>
              </a:tr>
              <a:tr h="4488732">
                <a:tc>
                  <a:txBody>
                    <a:bodyPr/>
                    <a:lstStyle/>
                    <a:p>
                      <a:pPr>
                        <a:buNone/>
                      </a:pPr>
                      <a:r>
                        <a:rPr lang="en-US" sz="1600" b="1" dirty="0"/>
                        <a:t>Analysis of Continual Learning Models for Intrusion Detection Systems, 2025</a:t>
                      </a:r>
                      <a:br>
                        <a:rPr lang="en-US" sz="1600" dirty="0"/>
                      </a:br>
                      <a:r>
                        <a:rPr lang="en-US" sz="1600" b="1" dirty="0"/>
                        <a:t>Publisher:</a:t>
                      </a:r>
                      <a:r>
                        <a:rPr lang="en-US" sz="1600" dirty="0"/>
                        <a:t> IEEE Access</a:t>
                      </a:r>
                      <a:endParaRPr lang="en-US" sz="1500" dirty="0"/>
                    </a:p>
                  </a:txBody>
                  <a:tcPr marL="77702" marR="77702" marT="38851" marB="38851" anchor="ctr"/>
                </a:tc>
                <a:tc>
                  <a:txBody>
                    <a:bodyPr/>
                    <a:lstStyle/>
                    <a:p>
                      <a:pPr>
                        <a:buNone/>
                      </a:pPr>
                      <a:r>
                        <a:rPr lang="en-US" sz="1600" dirty="0"/>
                        <a:t>Deep learning based intrusion detection systems suffer from catastrophic forgetting when trained on evolving network data, making them ineffective against zero day attacks and covariate shifts in real world environments.</a:t>
                      </a:r>
                      <a:endParaRPr lang="en-US" sz="1500" dirty="0"/>
                    </a:p>
                  </a:txBody>
                  <a:tcPr marL="77702" marR="77702" marT="38851" marB="38851" anchor="ctr"/>
                </a:tc>
                <a:tc>
                  <a:txBody>
                    <a:bodyPr/>
                    <a:lstStyle/>
                    <a:p>
                      <a:pPr>
                        <a:buNone/>
                      </a:pPr>
                      <a:r>
                        <a:rPr lang="en-US" sz="1600" dirty="0"/>
                        <a:t>The paper proposes an eight stage framework to detect data distribution drift and evaluates multiple continual learning strategies such as learning without forgetting, experience replay, and dark experience replay on NSL KDD and CICIDS 2017 datasets.</a:t>
                      </a:r>
                      <a:endParaRPr lang="en-US" sz="1500" dirty="0"/>
                    </a:p>
                  </a:txBody>
                  <a:tcPr marL="77702" marR="77702" marT="38851" marB="38851" anchor="ctr"/>
                </a:tc>
                <a:tc>
                  <a:txBody>
                    <a:bodyPr/>
                    <a:lstStyle/>
                    <a:p>
                      <a:pPr>
                        <a:buNone/>
                      </a:pPr>
                      <a:r>
                        <a:rPr lang="en-US" sz="1600" dirty="0"/>
                        <a:t>Addresses catastrophic forgetting, supports incremental learning, evaluates online deployment scenarios, strong experimental validation on benchmark datasets.</a:t>
                      </a:r>
                      <a:endParaRPr lang="en-US" sz="1500" dirty="0"/>
                    </a:p>
                  </a:txBody>
                  <a:tcPr marL="77702" marR="77702" marT="38851" marB="38851" anchor="ctr"/>
                </a:tc>
                <a:tc>
                  <a:txBody>
                    <a:bodyPr/>
                    <a:lstStyle/>
                    <a:p>
                      <a:pPr>
                        <a:buNone/>
                      </a:pPr>
                      <a:r>
                        <a:rPr lang="en-US" sz="1600" dirty="0"/>
                        <a:t>Relies on tabular feature based data, does not model behavioral relationships explicitly, limited focus on graph based representations or self supervised learning.</a:t>
                      </a:r>
                      <a:endParaRPr lang="en-US" sz="1500" dirty="0"/>
                    </a:p>
                  </a:txBody>
                  <a:tcPr marL="77702" marR="77702" marT="38851" marB="38851" anchor="ctr"/>
                </a:tc>
                <a:extLst>
                  <a:ext uri="{0D108BD9-81ED-4DB2-BD59-A6C34878D82A}">
                    <a16:rowId xmlns:a16="http://schemas.microsoft.com/office/drawing/2014/main" val="141213502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924ED8A-5943-FD74-02DA-7D87854E8EDE}"/>
              </a:ext>
            </a:extLst>
          </p:cNvPr>
          <p:cNvGraphicFramePr>
            <a:graphicFrameLocks noGrp="1"/>
          </p:cNvGraphicFramePr>
          <p:nvPr>
            <p:extLst>
              <p:ext uri="{D42A27DB-BD31-4B8C-83A1-F6EECF244321}">
                <p14:modId xmlns:p14="http://schemas.microsoft.com/office/powerpoint/2010/main" val="3630374941"/>
              </p:ext>
            </p:extLst>
          </p:nvPr>
        </p:nvGraphicFramePr>
        <p:xfrm>
          <a:off x="335685" y="689349"/>
          <a:ext cx="11520630" cy="5479301"/>
        </p:xfrm>
        <a:graphic>
          <a:graphicData uri="http://schemas.openxmlformats.org/drawingml/2006/table">
            <a:tbl>
              <a:tblPr>
                <a:tableStyleId>{D7AC3CCA-C797-4891-BE02-D94E43425B78}</a:tableStyleId>
              </a:tblPr>
              <a:tblGrid>
                <a:gridCol w="2304126">
                  <a:extLst>
                    <a:ext uri="{9D8B030D-6E8A-4147-A177-3AD203B41FA5}">
                      <a16:colId xmlns:a16="http://schemas.microsoft.com/office/drawing/2014/main" val="4064765819"/>
                    </a:ext>
                  </a:extLst>
                </a:gridCol>
                <a:gridCol w="2304126">
                  <a:extLst>
                    <a:ext uri="{9D8B030D-6E8A-4147-A177-3AD203B41FA5}">
                      <a16:colId xmlns:a16="http://schemas.microsoft.com/office/drawing/2014/main" val="616452517"/>
                    </a:ext>
                  </a:extLst>
                </a:gridCol>
                <a:gridCol w="2304126">
                  <a:extLst>
                    <a:ext uri="{9D8B030D-6E8A-4147-A177-3AD203B41FA5}">
                      <a16:colId xmlns:a16="http://schemas.microsoft.com/office/drawing/2014/main" val="4292963095"/>
                    </a:ext>
                  </a:extLst>
                </a:gridCol>
                <a:gridCol w="2304126">
                  <a:extLst>
                    <a:ext uri="{9D8B030D-6E8A-4147-A177-3AD203B41FA5}">
                      <a16:colId xmlns:a16="http://schemas.microsoft.com/office/drawing/2014/main" val="2816728172"/>
                    </a:ext>
                  </a:extLst>
                </a:gridCol>
                <a:gridCol w="2304126">
                  <a:extLst>
                    <a:ext uri="{9D8B030D-6E8A-4147-A177-3AD203B41FA5}">
                      <a16:colId xmlns:a16="http://schemas.microsoft.com/office/drawing/2014/main" val="2469888180"/>
                    </a:ext>
                  </a:extLst>
                </a:gridCol>
              </a:tblGrid>
              <a:tr h="590079">
                <a:tc>
                  <a:txBody>
                    <a:bodyPr/>
                    <a:lstStyle/>
                    <a:p>
                      <a:pPr>
                        <a:buNone/>
                      </a:pPr>
                      <a:r>
                        <a:rPr lang="en-IN" sz="1300" b="1"/>
                        <a:t>Paper Title / Publisher / Year</a:t>
                      </a:r>
                      <a:endParaRPr lang="en-IN" sz="1300"/>
                    </a:p>
                  </a:txBody>
                  <a:tcPr marL="66944" marR="66944" marT="33472" marB="33472" anchor="ctr"/>
                </a:tc>
                <a:tc>
                  <a:txBody>
                    <a:bodyPr/>
                    <a:lstStyle/>
                    <a:p>
                      <a:pPr>
                        <a:buNone/>
                      </a:pPr>
                      <a:r>
                        <a:rPr lang="en-IN" sz="1300" b="1"/>
                        <a:t>Problem Statement</a:t>
                      </a:r>
                      <a:endParaRPr lang="en-IN" sz="1300"/>
                    </a:p>
                  </a:txBody>
                  <a:tcPr marL="66944" marR="66944" marT="33472" marB="33472" anchor="ctr"/>
                </a:tc>
                <a:tc>
                  <a:txBody>
                    <a:bodyPr/>
                    <a:lstStyle/>
                    <a:p>
                      <a:pPr>
                        <a:buNone/>
                      </a:pPr>
                      <a:r>
                        <a:rPr lang="en-IN" sz="1300" b="1"/>
                        <a:t>Methodology</a:t>
                      </a:r>
                      <a:endParaRPr lang="en-IN" sz="1300"/>
                    </a:p>
                  </a:txBody>
                  <a:tcPr marL="66944" marR="66944" marT="33472" marB="33472" anchor="ctr"/>
                </a:tc>
                <a:tc>
                  <a:txBody>
                    <a:bodyPr/>
                    <a:lstStyle/>
                    <a:p>
                      <a:pPr>
                        <a:buNone/>
                      </a:pPr>
                      <a:r>
                        <a:rPr lang="en-IN" sz="1300" b="1" dirty="0"/>
                        <a:t>Pros</a:t>
                      </a:r>
                      <a:endParaRPr lang="en-IN" sz="1300" dirty="0"/>
                    </a:p>
                  </a:txBody>
                  <a:tcPr marL="66944" marR="66944" marT="33472" marB="33472" anchor="ctr"/>
                </a:tc>
                <a:tc>
                  <a:txBody>
                    <a:bodyPr/>
                    <a:lstStyle/>
                    <a:p>
                      <a:pPr>
                        <a:buNone/>
                      </a:pPr>
                      <a:r>
                        <a:rPr lang="en-IN" sz="1300" b="1"/>
                        <a:t>Cons</a:t>
                      </a:r>
                      <a:endParaRPr lang="en-IN" sz="1300"/>
                    </a:p>
                  </a:txBody>
                  <a:tcPr marL="66944" marR="66944" marT="33472" marB="33472" anchor="ctr"/>
                </a:tc>
                <a:extLst>
                  <a:ext uri="{0D108BD9-81ED-4DB2-BD59-A6C34878D82A}">
                    <a16:rowId xmlns:a16="http://schemas.microsoft.com/office/drawing/2014/main" val="476027950"/>
                  </a:ext>
                </a:extLst>
              </a:tr>
              <a:tr h="4889222">
                <a:tc>
                  <a:txBody>
                    <a:bodyPr/>
                    <a:lstStyle/>
                    <a:p>
                      <a:pPr>
                        <a:buNone/>
                      </a:pPr>
                      <a:r>
                        <a:rPr lang="en-US" sz="1400" b="1" dirty="0"/>
                        <a:t>Continual Learning for Intrusion Detection Under Evolving Network Threats, 2025</a:t>
                      </a:r>
                      <a:br>
                        <a:rPr lang="en-US" sz="1400" dirty="0"/>
                      </a:br>
                      <a:r>
                        <a:rPr lang="en-US" sz="1400" b="1" dirty="0"/>
                        <a:t>Publisher:</a:t>
                      </a:r>
                      <a:r>
                        <a:rPr lang="en-US" sz="1400" dirty="0"/>
                        <a:t> MDPI, </a:t>
                      </a:r>
                      <a:r>
                        <a:rPr lang="en-US" sz="1400" i="1" dirty="0"/>
                        <a:t>Future Internet</a:t>
                      </a:r>
                      <a:endParaRPr lang="en-US" sz="1300" dirty="0"/>
                    </a:p>
                  </a:txBody>
                  <a:tcPr marL="66944" marR="66944" marT="33472" marB="33472" anchor="ctr"/>
                </a:tc>
                <a:tc>
                  <a:txBody>
                    <a:bodyPr/>
                    <a:lstStyle/>
                    <a:p>
                      <a:pPr>
                        <a:buNone/>
                      </a:pPr>
                      <a:r>
                        <a:rPr lang="en-US" sz="1400" dirty="0"/>
                        <a:t>Traditional intrusion detection systems fail in real world environments due to catastrophic forgetting, scarcity of labeled data, and severe class imbalance as new attack types continuously emerge. Static models degrade over time and struggle to retain knowledge of previously seen threats while learning new ones.</a:t>
                      </a:r>
                      <a:endParaRPr lang="en-US" sz="1300" dirty="0"/>
                    </a:p>
                  </a:txBody>
                  <a:tcPr marL="66944" marR="66944" marT="33472" marB="33472" anchor="ctr"/>
                </a:tc>
                <a:tc>
                  <a:txBody>
                    <a:bodyPr/>
                    <a:lstStyle/>
                    <a:p>
                      <a:pPr>
                        <a:buNone/>
                      </a:pPr>
                      <a:r>
                        <a:rPr lang="en-US" sz="1400" dirty="0"/>
                        <a:t>The paper proposes a semi supervised continual learning framework that integrates dynamic memory selection using clustering, multi level knowledge distillation across logits, attention, and feature spaces, and meta learning based dynamic class reweighting to adapt to evolving and imbalanced network traffic distributions.</a:t>
                      </a:r>
                      <a:endParaRPr lang="en-US" sz="1300" dirty="0"/>
                    </a:p>
                  </a:txBody>
                  <a:tcPr marL="66944" marR="66944" marT="33472" marB="33472" anchor="ctr"/>
                </a:tc>
                <a:tc>
                  <a:txBody>
                    <a:bodyPr/>
                    <a:lstStyle/>
                    <a:p>
                      <a:pPr>
                        <a:buNone/>
                      </a:pPr>
                      <a:r>
                        <a:rPr lang="en-US" sz="1400" dirty="0"/>
                        <a:t>Effectively mitigates catastrophic forgetting, supports long term deployment, leverages unlabeled data, handles class imbalance well, and demonstrates strong performance on real world intrusion datasets</a:t>
                      </a:r>
                      <a:endParaRPr lang="en-US" sz="1300" dirty="0"/>
                    </a:p>
                  </a:txBody>
                  <a:tcPr marL="66944" marR="66944" marT="33472" marB="33472" anchor="ctr"/>
                </a:tc>
                <a:tc>
                  <a:txBody>
                    <a:bodyPr/>
                    <a:lstStyle/>
                    <a:p>
                      <a:pPr>
                        <a:buNone/>
                      </a:pPr>
                      <a:r>
                        <a:rPr lang="en-US" sz="1400" dirty="0"/>
                        <a:t>Relies on tabular traffic features, does not explicitly model system level behavioral relationships, limited focus on behavior graphs or interaction based representations, and focuses more on network traffic than host level behavior.</a:t>
                      </a:r>
                      <a:r>
                        <a:rPr lang="en-US" sz="1300" dirty="0"/>
                        <a:t>.</a:t>
                      </a:r>
                    </a:p>
                  </a:txBody>
                  <a:tcPr marL="66944" marR="66944" marT="33472" marB="33472" anchor="ctr"/>
                </a:tc>
                <a:extLst>
                  <a:ext uri="{0D108BD9-81ED-4DB2-BD59-A6C34878D82A}">
                    <a16:rowId xmlns:a16="http://schemas.microsoft.com/office/drawing/2014/main" val="37737752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27560" y="131385"/>
            <a:ext cx="10727521" cy="368300"/>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latin typeface="+mj-lt"/>
            </a:endParaRPr>
          </a:p>
        </p:txBody>
      </p:sp>
      <p:graphicFrame>
        <p:nvGraphicFramePr>
          <p:cNvPr id="4" name="Table 3">
            <a:extLst>
              <a:ext uri="{FF2B5EF4-FFF2-40B4-BE49-F238E27FC236}">
                <a16:creationId xmlns:a16="http://schemas.microsoft.com/office/drawing/2014/main" id="{ADE7DE83-18CC-BB63-425A-54D1DD43F973}"/>
              </a:ext>
            </a:extLst>
          </p:cNvPr>
          <p:cNvGraphicFramePr>
            <a:graphicFrameLocks noGrp="1"/>
          </p:cNvGraphicFramePr>
          <p:nvPr>
            <p:extLst>
              <p:ext uri="{D42A27DB-BD31-4B8C-83A1-F6EECF244321}">
                <p14:modId xmlns:p14="http://schemas.microsoft.com/office/powerpoint/2010/main" val="360749602"/>
              </p:ext>
            </p:extLst>
          </p:nvPr>
        </p:nvGraphicFramePr>
        <p:xfrm>
          <a:off x="363511" y="693511"/>
          <a:ext cx="11491570" cy="5685518"/>
        </p:xfrm>
        <a:graphic>
          <a:graphicData uri="http://schemas.openxmlformats.org/drawingml/2006/table">
            <a:tbl>
              <a:tblPr>
                <a:tableStyleId>{D7AC3CCA-C797-4891-BE02-D94E43425B78}</a:tableStyleId>
              </a:tblPr>
              <a:tblGrid>
                <a:gridCol w="2298314">
                  <a:extLst>
                    <a:ext uri="{9D8B030D-6E8A-4147-A177-3AD203B41FA5}">
                      <a16:colId xmlns:a16="http://schemas.microsoft.com/office/drawing/2014/main" val="1510104998"/>
                    </a:ext>
                  </a:extLst>
                </a:gridCol>
                <a:gridCol w="2298314">
                  <a:extLst>
                    <a:ext uri="{9D8B030D-6E8A-4147-A177-3AD203B41FA5}">
                      <a16:colId xmlns:a16="http://schemas.microsoft.com/office/drawing/2014/main" val="1908381792"/>
                    </a:ext>
                  </a:extLst>
                </a:gridCol>
                <a:gridCol w="2298314">
                  <a:extLst>
                    <a:ext uri="{9D8B030D-6E8A-4147-A177-3AD203B41FA5}">
                      <a16:colId xmlns:a16="http://schemas.microsoft.com/office/drawing/2014/main" val="1575968772"/>
                    </a:ext>
                  </a:extLst>
                </a:gridCol>
                <a:gridCol w="2298314">
                  <a:extLst>
                    <a:ext uri="{9D8B030D-6E8A-4147-A177-3AD203B41FA5}">
                      <a16:colId xmlns:a16="http://schemas.microsoft.com/office/drawing/2014/main" val="133885138"/>
                    </a:ext>
                  </a:extLst>
                </a:gridCol>
                <a:gridCol w="2298314">
                  <a:extLst>
                    <a:ext uri="{9D8B030D-6E8A-4147-A177-3AD203B41FA5}">
                      <a16:colId xmlns:a16="http://schemas.microsoft.com/office/drawing/2014/main" val="1383870111"/>
                    </a:ext>
                  </a:extLst>
                </a:gridCol>
              </a:tblGrid>
              <a:tr h="612287">
                <a:tc>
                  <a:txBody>
                    <a:bodyPr/>
                    <a:lstStyle/>
                    <a:p>
                      <a:pPr>
                        <a:buNone/>
                      </a:pPr>
                      <a:r>
                        <a:rPr lang="en-IN" sz="1300" b="1"/>
                        <a:t>Paper Title / Publisher / Year</a:t>
                      </a:r>
                      <a:endParaRPr lang="en-IN" sz="1300"/>
                    </a:p>
                  </a:txBody>
                  <a:tcPr marL="66944" marR="66944" marT="33472" marB="33472" anchor="ctr"/>
                </a:tc>
                <a:tc>
                  <a:txBody>
                    <a:bodyPr/>
                    <a:lstStyle/>
                    <a:p>
                      <a:pPr>
                        <a:buNone/>
                      </a:pPr>
                      <a:r>
                        <a:rPr lang="en-IN" sz="1300" b="1"/>
                        <a:t>Problem Statement</a:t>
                      </a:r>
                      <a:endParaRPr lang="en-IN" sz="1300"/>
                    </a:p>
                  </a:txBody>
                  <a:tcPr marL="66944" marR="66944" marT="33472" marB="33472" anchor="ctr"/>
                </a:tc>
                <a:tc>
                  <a:txBody>
                    <a:bodyPr/>
                    <a:lstStyle/>
                    <a:p>
                      <a:pPr>
                        <a:buNone/>
                      </a:pPr>
                      <a:r>
                        <a:rPr lang="en-IN" sz="1300" b="1"/>
                        <a:t>Methodology</a:t>
                      </a:r>
                      <a:endParaRPr lang="en-IN" sz="1300"/>
                    </a:p>
                  </a:txBody>
                  <a:tcPr marL="66944" marR="66944" marT="33472" marB="33472" anchor="ctr"/>
                </a:tc>
                <a:tc>
                  <a:txBody>
                    <a:bodyPr/>
                    <a:lstStyle/>
                    <a:p>
                      <a:pPr>
                        <a:buNone/>
                      </a:pPr>
                      <a:r>
                        <a:rPr lang="en-IN" sz="1300" b="1"/>
                        <a:t>Pros</a:t>
                      </a:r>
                      <a:endParaRPr lang="en-IN" sz="1300"/>
                    </a:p>
                  </a:txBody>
                  <a:tcPr marL="66944" marR="66944" marT="33472" marB="33472" anchor="ctr"/>
                </a:tc>
                <a:tc>
                  <a:txBody>
                    <a:bodyPr/>
                    <a:lstStyle/>
                    <a:p>
                      <a:pPr>
                        <a:buNone/>
                      </a:pPr>
                      <a:r>
                        <a:rPr lang="en-IN" sz="1300" b="1"/>
                        <a:t>Cons</a:t>
                      </a:r>
                      <a:endParaRPr lang="en-IN" sz="1300"/>
                    </a:p>
                  </a:txBody>
                  <a:tcPr marL="66944" marR="66944" marT="33472" marB="33472" anchor="ctr"/>
                </a:tc>
                <a:extLst>
                  <a:ext uri="{0D108BD9-81ED-4DB2-BD59-A6C34878D82A}">
                    <a16:rowId xmlns:a16="http://schemas.microsoft.com/office/drawing/2014/main" val="2945897570"/>
                  </a:ext>
                </a:extLst>
              </a:tr>
              <a:tr h="5073231">
                <a:tc>
                  <a:txBody>
                    <a:bodyPr/>
                    <a:lstStyle/>
                    <a:p>
                      <a:pPr>
                        <a:buNone/>
                      </a:pPr>
                      <a:r>
                        <a:rPr lang="en-US" sz="1400" b="1" dirty="0"/>
                        <a:t>Enhancing Cybersecurity: Zero-Day Attack Detection in Network Traffic with Deep Learning Model, 2025</a:t>
                      </a:r>
                      <a:br>
                        <a:rPr lang="en-US" sz="1400" dirty="0"/>
                      </a:br>
                      <a:r>
                        <a:rPr lang="en-US" sz="1400" b="1" dirty="0"/>
                        <a:t>Publisher:</a:t>
                      </a:r>
                      <a:r>
                        <a:rPr lang="en-US" sz="1400" dirty="0"/>
                        <a:t> Asian Journal of Research in Computer Science</a:t>
                      </a:r>
                      <a:endParaRPr lang="en-US" sz="1300" dirty="0"/>
                    </a:p>
                  </a:txBody>
                  <a:tcPr marL="66944" marR="66944" marT="33472" marB="33472" anchor="ctr"/>
                </a:tc>
                <a:tc>
                  <a:txBody>
                    <a:bodyPr/>
                    <a:lstStyle/>
                    <a:p>
                      <a:pPr>
                        <a:buNone/>
                      </a:pPr>
                      <a:r>
                        <a:rPr lang="en-US" sz="1400" dirty="0"/>
                        <a:t>Signature-based intrusion detection systems fail to identify zero-day attacks because such attacks exploit previously unknown vulnerabilities and exhibit unseen behavior in network traffic. Existing machine learning approaches struggle to generalize effectively to these unknown threats.</a:t>
                      </a:r>
                      <a:endParaRPr lang="en-US" sz="1300" dirty="0"/>
                    </a:p>
                  </a:txBody>
                  <a:tcPr marL="66944" marR="66944" marT="33472" marB="33472" anchor="ctr"/>
                </a:tc>
                <a:tc>
                  <a:txBody>
                    <a:bodyPr/>
                    <a:lstStyle/>
                    <a:p>
                      <a:pPr>
                        <a:buNone/>
                      </a:pPr>
                      <a:r>
                        <a:rPr lang="en-US" sz="1400" dirty="0"/>
                        <a:t>The paper proposes a deep learning based zero-day detection framework using a Convolutional Neural Network trained on the UNSW-NB15 dataset. The approach includes data preprocessing, normalization, one-hot encoding, class balancing using SMOTE, feature selection using the VFS algorithm, and CNN-based classification of network traffic.</a:t>
                      </a:r>
                      <a:endParaRPr lang="en-US" sz="1300" dirty="0"/>
                    </a:p>
                  </a:txBody>
                  <a:tcPr marL="66944" marR="66944" marT="33472" marB="33472" anchor="ctr"/>
                </a:tc>
                <a:tc>
                  <a:txBody>
                    <a:bodyPr/>
                    <a:lstStyle/>
                    <a:p>
                      <a:pPr>
                        <a:buNone/>
                      </a:pPr>
                      <a:r>
                        <a:rPr lang="en-US" sz="1400" dirty="0"/>
                        <a:t>High detection accuracy for zero-day attacks, strong performance on real-world benchmark datasets, effective feature selection and class balancing, and superior results compared to traditional ML models such as SVM and Random Forest.</a:t>
                      </a:r>
                      <a:endParaRPr lang="en-US" sz="1300" dirty="0"/>
                    </a:p>
                  </a:txBody>
                  <a:tcPr marL="66944" marR="66944" marT="33472" marB="33472" anchor="ctr"/>
                </a:tc>
                <a:tc>
                  <a:txBody>
                    <a:bodyPr/>
                    <a:lstStyle/>
                    <a:p>
                      <a:pPr>
                        <a:buNone/>
                      </a:pPr>
                      <a:r>
                        <a:rPr lang="en-US" sz="1400" dirty="0"/>
                        <a:t>Relies on supervised learning with labeled attack data, limited ability to detect completely unseen attack behaviors, operates on flat network traffic features without explicit behavioral or relational modeling, and lacks continual learning or long-term adaptability.</a:t>
                      </a:r>
                      <a:endParaRPr lang="en-US" sz="1300" dirty="0"/>
                    </a:p>
                  </a:txBody>
                  <a:tcPr marL="66944" marR="66944" marT="33472" marB="33472" anchor="ctr"/>
                </a:tc>
                <a:extLst>
                  <a:ext uri="{0D108BD9-81ED-4DB2-BD59-A6C34878D82A}">
                    <a16:rowId xmlns:a16="http://schemas.microsoft.com/office/drawing/2014/main" val="17766065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1B6AEC-411C-8C71-0E27-5C5308411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786" y="0"/>
            <a:ext cx="11477766" cy="6858000"/>
          </a:xfrm>
          <a:prstGeom prst="rect">
            <a:avLst/>
          </a:prstGeom>
        </p:spPr>
      </p:pic>
    </p:spTree>
    <p:extLst>
      <p:ext uri="{BB962C8B-B14F-4D97-AF65-F5344CB8AC3E}">
        <p14:creationId xmlns:p14="http://schemas.microsoft.com/office/powerpoint/2010/main" val="3682558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D1E-4C93-7321-EB10-90D65043FFE1}"/>
              </a:ext>
            </a:extLst>
          </p:cNvPr>
          <p:cNvSpPr>
            <a:spLocks noGrp="1"/>
          </p:cNvSpPr>
          <p:nvPr>
            <p:ph type="title"/>
          </p:nvPr>
        </p:nvSpPr>
        <p:spPr/>
        <p:txBody>
          <a:bodyPr/>
          <a:lstStyle/>
          <a:p>
            <a:r>
              <a:rPr lang="en-US" dirty="0"/>
              <a:t>Module wise description </a:t>
            </a:r>
          </a:p>
        </p:txBody>
      </p:sp>
      <p:sp>
        <p:nvSpPr>
          <p:cNvPr id="3" name="Content Placeholder 2">
            <a:extLst>
              <a:ext uri="{FF2B5EF4-FFF2-40B4-BE49-F238E27FC236}">
                <a16:creationId xmlns:a16="http://schemas.microsoft.com/office/drawing/2014/main" id="{D0F24885-B71F-2900-C7B5-6D730888CD17}"/>
              </a:ext>
            </a:extLst>
          </p:cNvPr>
          <p:cNvSpPr>
            <a:spLocks noGrp="1"/>
          </p:cNvSpPr>
          <p:nvPr>
            <p:ph idx="1"/>
          </p:nvPr>
        </p:nvSpPr>
        <p:spPr/>
        <p:txBody>
          <a:bodyPr/>
          <a:lstStyle/>
          <a:p>
            <a:pPr marL="0" indent="0">
              <a:buNone/>
            </a:pPr>
            <a:r>
              <a:rPr lang="en-US" b="1" dirty="0"/>
              <a:t>Module 1: System Monitoring Module</a:t>
            </a:r>
          </a:p>
          <a:p>
            <a:r>
              <a:rPr lang="en-US" dirty="0"/>
              <a:t>This module continuously observes low-level system activity without interfering with normal operations.</a:t>
            </a:r>
          </a:p>
          <a:p>
            <a:r>
              <a:rPr lang="en-US" dirty="0"/>
              <a:t>It monitors processes, file accesses, network connections, and system-level actions generated during regular computer usage.</a:t>
            </a:r>
          </a:p>
          <a:p>
            <a:r>
              <a:rPr lang="en-US" dirty="0"/>
              <a:t>The objective is to collect raw behavioral evidence rather than classify or block activities at this stage.</a:t>
            </a:r>
          </a:p>
          <a:p>
            <a:r>
              <a:rPr lang="en-US" dirty="0"/>
              <a:t>This ensures that both benign and potentially malicious behaviors are captured in their natural form.</a:t>
            </a:r>
          </a:p>
          <a:p>
            <a:endParaRPr lang="en-US" dirty="0"/>
          </a:p>
        </p:txBody>
      </p:sp>
    </p:spTree>
    <p:extLst>
      <p:ext uri="{BB962C8B-B14F-4D97-AF65-F5344CB8AC3E}">
        <p14:creationId xmlns:p14="http://schemas.microsoft.com/office/powerpoint/2010/main" val="3705405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24CE4-5115-311C-B225-0B79EB965C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092B8-0AF4-A70A-9095-EEE2A0F91BD8}"/>
              </a:ext>
            </a:extLst>
          </p:cNvPr>
          <p:cNvSpPr>
            <a:spLocks noGrp="1"/>
          </p:cNvSpPr>
          <p:nvPr>
            <p:ph idx="1"/>
          </p:nvPr>
        </p:nvSpPr>
        <p:spPr>
          <a:xfrm>
            <a:off x="483359" y="324372"/>
            <a:ext cx="10475794" cy="4506936"/>
          </a:xfrm>
        </p:spPr>
        <p:txBody>
          <a:bodyPr>
            <a:noAutofit/>
          </a:bodyPr>
          <a:lstStyle/>
          <a:p>
            <a:pPr marL="0" indent="0">
              <a:buNone/>
            </a:pPr>
            <a:r>
              <a:rPr lang="en-US" sz="2200" b="1" dirty="0"/>
              <a:t>Module 2: Event Buffering and Data Collection Module</a:t>
            </a:r>
          </a:p>
          <a:p>
            <a:r>
              <a:rPr lang="en-US" sz="2200" dirty="0"/>
              <a:t>Raw system events occur at very high frequency and cannot be processed instantaneously.</a:t>
            </a:r>
          </a:p>
          <a:p>
            <a:r>
              <a:rPr lang="en-US" sz="2200" dirty="0"/>
              <a:t>This module temporarily stores incoming events in a buffer to ensure no behavioral information is lost.</a:t>
            </a:r>
          </a:p>
          <a:p>
            <a:r>
              <a:rPr lang="en-US" sz="2200" dirty="0"/>
              <a:t>It enables controlled, sequential processing of events and prevents overload in later stages.</a:t>
            </a:r>
          </a:p>
          <a:p>
            <a:r>
              <a:rPr lang="en-US" sz="2200" dirty="0"/>
              <a:t>Buffered data preserves the original order and timing of events, which is essential for behavioral analysis.</a:t>
            </a:r>
          </a:p>
          <a:p>
            <a:endParaRPr lang="en-US" sz="2200" dirty="0"/>
          </a:p>
          <a:p>
            <a:r>
              <a:rPr lang="en-US" sz="2200" b="1" dirty="0"/>
              <a:t>Module 3: Data Processing and Correlation Module</a:t>
            </a:r>
          </a:p>
          <a:p>
            <a:r>
              <a:rPr lang="en-US" sz="2200" dirty="0"/>
              <a:t>Raw system events are noisy, fragmented, and difficult to interpret individually.</a:t>
            </a:r>
          </a:p>
          <a:p>
            <a:r>
              <a:rPr lang="en-US" sz="2200" dirty="0"/>
              <a:t>This module filters irrelevant events, removes redundancy, and groups related actions based on temporal proximity.</a:t>
            </a:r>
          </a:p>
          <a:p>
            <a:r>
              <a:rPr lang="en-US" sz="2200" dirty="0"/>
              <a:t>Multiple low-level events are correlated to form meaningful behavioral sequences.</a:t>
            </a:r>
          </a:p>
          <a:p>
            <a:r>
              <a:rPr lang="en-US" sz="2200" dirty="0"/>
              <a:t>As a result, isolated system actions are transformed into coherent activity patterns.</a:t>
            </a:r>
          </a:p>
          <a:p>
            <a:endParaRPr lang="en-US" sz="2200" dirty="0"/>
          </a:p>
          <a:p>
            <a:pPr marL="0" indent="0">
              <a:buNone/>
            </a:pPr>
            <a:endParaRPr lang="en-US" sz="2200" dirty="0"/>
          </a:p>
        </p:txBody>
      </p:sp>
    </p:spTree>
    <p:extLst>
      <p:ext uri="{BB962C8B-B14F-4D97-AF65-F5344CB8AC3E}">
        <p14:creationId xmlns:p14="http://schemas.microsoft.com/office/powerpoint/2010/main" val="843002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3B59-DAB6-C17D-592E-8C24F30072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6EDE7-AD0E-688C-FB39-3AA1462E7DD0}"/>
              </a:ext>
            </a:extLst>
          </p:cNvPr>
          <p:cNvSpPr>
            <a:spLocks noGrp="1"/>
          </p:cNvSpPr>
          <p:nvPr>
            <p:ph idx="1"/>
          </p:nvPr>
        </p:nvSpPr>
        <p:spPr>
          <a:xfrm>
            <a:off x="483359" y="324372"/>
            <a:ext cx="10475794" cy="4506936"/>
          </a:xfrm>
        </p:spPr>
        <p:txBody>
          <a:bodyPr>
            <a:noAutofit/>
          </a:bodyPr>
          <a:lstStyle/>
          <a:p>
            <a:pPr marL="0" indent="0">
              <a:buNone/>
            </a:pPr>
            <a:r>
              <a:rPr lang="en-US" sz="2000" b="1" dirty="0"/>
              <a:t>Module 4: Behavior Graph Construction Module</a:t>
            </a:r>
          </a:p>
          <a:p>
            <a:r>
              <a:rPr lang="en-US" sz="2000" dirty="0"/>
              <a:t>Instead of representing system activity as flat numerical records, this module models behavior as graphs.</a:t>
            </a:r>
          </a:p>
          <a:p>
            <a:r>
              <a:rPr lang="en-US" sz="2000" dirty="0"/>
              <a:t>System entities such as processes, files, and network endpoints are represented as nodes, while interactions are represented as edges.</a:t>
            </a:r>
          </a:p>
          <a:p>
            <a:r>
              <a:rPr lang="en-US" sz="2000" dirty="0"/>
              <a:t>This graph-based representation captures relationships and dependencies between system components.</a:t>
            </a:r>
          </a:p>
          <a:p>
            <a:r>
              <a:rPr lang="en-US" sz="2000" dirty="0"/>
              <a:t>Modeling behavior in this relational form allows the system to detect complex and multi-stage attack patterns.</a:t>
            </a:r>
          </a:p>
          <a:p>
            <a:endParaRPr lang="en-US" sz="2000" dirty="0"/>
          </a:p>
          <a:p>
            <a:pPr marL="0" indent="0">
              <a:buNone/>
            </a:pPr>
            <a:r>
              <a:rPr lang="en-US" sz="2000" b="1" dirty="0"/>
              <a:t>Module 5: Behavior Graph Repository</a:t>
            </a:r>
          </a:p>
          <a:p>
            <a:r>
              <a:rPr lang="en-US" sz="2000" dirty="0"/>
              <a:t>Generated behavior graphs are stored in a dedicated repository for further analysis and learning.</a:t>
            </a:r>
          </a:p>
          <a:p>
            <a:r>
              <a:rPr lang="en-US" sz="2000" dirty="0"/>
              <a:t>This module supports efficient retrieval of historical behavioral patterns for comparison and training.</a:t>
            </a:r>
          </a:p>
          <a:p>
            <a:r>
              <a:rPr lang="en-US" sz="2000" dirty="0"/>
              <a:t>Storing graph snapshots enables temporal analysis and long-term behavioral tracking.</a:t>
            </a:r>
          </a:p>
          <a:p>
            <a:r>
              <a:rPr lang="en-US" sz="2000" dirty="0"/>
              <a:t>It also supports incremental updates required for continual learning.</a:t>
            </a:r>
          </a:p>
          <a:p>
            <a:endParaRPr lang="en-US" sz="2000" dirty="0"/>
          </a:p>
        </p:txBody>
      </p:sp>
    </p:spTree>
    <p:extLst>
      <p:ext uri="{BB962C8B-B14F-4D97-AF65-F5344CB8AC3E}">
        <p14:creationId xmlns:p14="http://schemas.microsoft.com/office/powerpoint/2010/main" val="122704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A28D9-6C95-25D4-8B43-D9F7BE64F8A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AC2C1-3D88-ED11-9C3D-A5BA7EB6FC7A}"/>
              </a:ext>
            </a:extLst>
          </p:cNvPr>
          <p:cNvSpPr>
            <a:spLocks noGrp="1"/>
          </p:cNvSpPr>
          <p:nvPr>
            <p:ph idx="1"/>
          </p:nvPr>
        </p:nvSpPr>
        <p:spPr>
          <a:xfrm>
            <a:off x="483359" y="324372"/>
            <a:ext cx="10475794" cy="4506936"/>
          </a:xfrm>
        </p:spPr>
        <p:txBody>
          <a:bodyPr>
            <a:noAutofit/>
          </a:bodyPr>
          <a:lstStyle/>
          <a:p>
            <a:pPr marL="0" indent="0">
              <a:buNone/>
            </a:pPr>
            <a:r>
              <a:rPr lang="en-US" sz="2000" b="1" dirty="0"/>
              <a:t>Module 6: Graph Feature Encoding Module</a:t>
            </a:r>
          </a:p>
          <a:p>
            <a:r>
              <a:rPr lang="en-US" sz="2000" dirty="0"/>
              <a:t>Raw graphs cannot be directly processed by learning algorithms.</a:t>
            </a:r>
          </a:p>
          <a:p>
            <a:r>
              <a:rPr lang="en-US" sz="2000" dirty="0"/>
              <a:t>This module converts graph structures into numerical representations while preserving relational information.</a:t>
            </a:r>
          </a:p>
          <a:p>
            <a:r>
              <a:rPr lang="en-US" sz="2000" dirty="0"/>
              <a:t>Structural patterns, interaction strengths, and temporal properties are encoded into feature vectors.</a:t>
            </a:r>
          </a:p>
          <a:p>
            <a:r>
              <a:rPr lang="en-US" sz="2000" dirty="0"/>
              <a:t>These encoded representations serve as inputs to the learning models.</a:t>
            </a:r>
          </a:p>
          <a:p>
            <a:pPr marL="0" indent="0">
              <a:buNone/>
            </a:pPr>
            <a:endParaRPr lang="en-US" sz="2000" dirty="0"/>
          </a:p>
          <a:p>
            <a:pPr marL="0" indent="0">
              <a:buNone/>
            </a:pPr>
            <a:r>
              <a:rPr lang="en-US" sz="2000" b="1" dirty="0"/>
              <a:t>Module 7: Self-Supervised Learning Module</a:t>
            </a:r>
          </a:p>
          <a:p>
            <a:r>
              <a:rPr lang="en-US" sz="2000" dirty="0"/>
              <a:t>This module learns normal system behavior without using labeled attack data.</a:t>
            </a:r>
          </a:p>
          <a:p>
            <a:r>
              <a:rPr lang="en-US" sz="2000" dirty="0"/>
              <a:t>It is trained exclusively on benign operational data using self-supervised objectives.</a:t>
            </a:r>
          </a:p>
          <a:p>
            <a:r>
              <a:rPr lang="en-US" sz="2000" dirty="0"/>
              <a:t>The model learns to recognize typical behavioral patterns and interactions present in normal system operation.</a:t>
            </a:r>
          </a:p>
          <a:p>
            <a:r>
              <a:rPr lang="en-US" sz="2000" dirty="0"/>
              <a:t>By learning normality instead of attack signatures, the system becomes capable of detecting unseen zero-day attacks.</a:t>
            </a:r>
          </a:p>
          <a:p>
            <a:pPr marL="0" indent="0">
              <a:buNone/>
            </a:pPr>
            <a:endParaRPr lang="en-US" sz="2000" dirty="0"/>
          </a:p>
        </p:txBody>
      </p:sp>
    </p:spTree>
    <p:extLst>
      <p:ext uri="{BB962C8B-B14F-4D97-AF65-F5344CB8AC3E}">
        <p14:creationId xmlns:p14="http://schemas.microsoft.com/office/powerpoint/2010/main" val="2822349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4005-F4EE-54BD-4C9F-4B52794021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41713E-B491-63A2-2D4F-263FEAA4082B}"/>
              </a:ext>
            </a:extLst>
          </p:cNvPr>
          <p:cNvSpPr>
            <a:spLocks noGrp="1"/>
          </p:cNvSpPr>
          <p:nvPr>
            <p:ph idx="1"/>
          </p:nvPr>
        </p:nvSpPr>
        <p:spPr>
          <a:xfrm>
            <a:off x="633484" y="474498"/>
            <a:ext cx="10475794" cy="4506936"/>
          </a:xfrm>
        </p:spPr>
        <p:txBody>
          <a:bodyPr>
            <a:noAutofit/>
          </a:bodyPr>
          <a:lstStyle/>
          <a:p>
            <a:pPr marL="0" indent="0">
              <a:buNone/>
            </a:pPr>
            <a:r>
              <a:rPr lang="en-US" sz="2000" b="1" dirty="0"/>
              <a:t>Module 8: Zero-Day Detection and Anomaly Scoring Module</a:t>
            </a:r>
          </a:p>
          <a:p>
            <a:r>
              <a:rPr lang="en-US" sz="2000" dirty="0"/>
              <a:t>Incoming behavioral representations are compared against the learned normal behavior model.</a:t>
            </a:r>
          </a:p>
          <a:p>
            <a:r>
              <a:rPr lang="en-US" sz="2000" dirty="0"/>
              <a:t>Deviations from normal patterns are quantified using anomaly or deviation scores.</a:t>
            </a:r>
          </a:p>
          <a:p>
            <a:r>
              <a:rPr lang="en-US" sz="2000" dirty="0"/>
              <a:t>High deviation scores indicate behavior that does not conform to expected system operation.</a:t>
            </a:r>
          </a:p>
          <a:p>
            <a:r>
              <a:rPr lang="en-US" sz="2000" dirty="0"/>
              <a:t>Such behavior is flagged as a potential zero-day attack without relying on prior attack knowledge.</a:t>
            </a:r>
          </a:p>
          <a:p>
            <a:pPr marL="0" indent="0">
              <a:buNone/>
            </a:pPr>
            <a:endParaRPr lang="en-US" sz="2000" dirty="0"/>
          </a:p>
          <a:p>
            <a:pPr marL="0" indent="0">
              <a:buNone/>
            </a:pPr>
            <a:r>
              <a:rPr lang="en-US" sz="2000" b="1" dirty="0"/>
              <a:t>Module 9: Attack Progression and Kill-Chain Analysis Module</a:t>
            </a:r>
          </a:p>
          <a:p>
            <a:r>
              <a:rPr lang="en-US" sz="2000" dirty="0"/>
              <a:t>Cyber attacks often occur as sequences of actions rather than single anomalous events.</a:t>
            </a:r>
          </a:p>
          <a:p>
            <a:r>
              <a:rPr lang="en-US" sz="2000" dirty="0"/>
              <a:t>This module analyzes how suspicious behaviors evolve over time.</a:t>
            </a:r>
          </a:p>
          <a:p>
            <a:r>
              <a:rPr lang="en-US" sz="2000" dirty="0"/>
              <a:t>It identifies multi-stage attack patterns such as initial access, privilege escalation, and data exfiltration.</a:t>
            </a:r>
          </a:p>
          <a:p>
            <a:r>
              <a:rPr lang="en-US" sz="2000" dirty="0"/>
              <a:t>Viewing attacks as behavioral sequences reduces false positives and improves detection reliability.</a:t>
            </a:r>
          </a:p>
          <a:p>
            <a:pPr marL="0" indent="0">
              <a:buNone/>
            </a:pPr>
            <a:endParaRPr lang="en-US" sz="2000" dirty="0"/>
          </a:p>
        </p:txBody>
      </p:sp>
    </p:spTree>
    <p:extLst>
      <p:ext uri="{BB962C8B-B14F-4D97-AF65-F5344CB8AC3E}">
        <p14:creationId xmlns:p14="http://schemas.microsoft.com/office/powerpoint/2010/main" val="1384005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BFA7D-1174-810B-CBF0-BCF9F50020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15911-2786-BD07-BFD8-9F94D58B037E}"/>
              </a:ext>
            </a:extLst>
          </p:cNvPr>
          <p:cNvSpPr>
            <a:spLocks noGrp="1"/>
          </p:cNvSpPr>
          <p:nvPr>
            <p:ph idx="1"/>
          </p:nvPr>
        </p:nvSpPr>
        <p:spPr>
          <a:xfrm>
            <a:off x="729019" y="720158"/>
            <a:ext cx="10475794" cy="4506936"/>
          </a:xfrm>
        </p:spPr>
        <p:txBody>
          <a:bodyPr>
            <a:noAutofit/>
          </a:bodyPr>
          <a:lstStyle/>
          <a:p>
            <a:pPr marL="0" indent="0">
              <a:buNone/>
            </a:pPr>
            <a:r>
              <a:rPr lang="en-US" sz="2000" b="1" dirty="0"/>
              <a:t>Module 10: Threat Intelligence Correlation Module</a:t>
            </a:r>
          </a:p>
          <a:p>
            <a:r>
              <a:rPr lang="en-US" sz="2000" dirty="0"/>
              <a:t>Detected suspicious behavior is cross-checked against known attack tactics and behavioral patterns.</a:t>
            </a:r>
          </a:p>
          <a:p>
            <a:r>
              <a:rPr lang="en-US" sz="2000" dirty="0"/>
              <a:t>This module does not rely on exact signatures but compares high-level behavioral characteristics.</a:t>
            </a:r>
          </a:p>
          <a:p>
            <a:r>
              <a:rPr lang="en-US" sz="2000" dirty="0"/>
              <a:t>Correlation with known threat strategies adds contextual validation to detected anomalies.</a:t>
            </a:r>
          </a:p>
          <a:p>
            <a:r>
              <a:rPr lang="en-US" sz="2000" dirty="0"/>
              <a:t>This step increases confidence in detection and reduces unnecessary alerts.</a:t>
            </a:r>
          </a:p>
          <a:p>
            <a:pPr marL="0" indent="0">
              <a:buNone/>
            </a:pPr>
            <a:endParaRPr lang="en-US" sz="2000" dirty="0"/>
          </a:p>
          <a:p>
            <a:pPr marL="0" indent="0">
              <a:buNone/>
            </a:pPr>
            <a:r>
              <a:rPr lang="en-US" sz="2000" b="1" dirty="0"/>
              <a:t>Module 11: Trust and Confidence Scoring Module</a:t>
            </a:r>
          </a:p>
          <a:p>
            <a:r>
              <a:rPr lang="en-US" sz="2000" dirty="0"/>
              <a:t>Instead of producing binary decisions, this module assigns a confidence score to each detection.</a:t>
            </a:r>
          </a:p>
          <a:p>
            <a:r>
              <a:rPr lang="en-US" sz="2000" dirty="0"/>
              <a:t>The score is computed by combining anomaly severity, attack progression evidence, and threat correlation results.</a:t>
            </a:r>
          </a:p>
          <a:p>
            <a:r>
              <a:rPr lang="en-US" sz="2000" dirty="0"/>
              <a:t>This mirrors real-world security operations where alerts are prioritized based on risk levels.</a:t>
            </a:r>
          </a:p>
          <a:p>
            <a:r>
              <a:rPr lang="en-US" sz="2000" dirty="0"/>
              <a:t>Confidence scoring enables informed and proportional response decisions.</a:t>
            </a:r>
          </a:p>
          <a:p>
            <a:pPr marL="0" indent="0">
              <a:buNone/>
            </a:pPr>
            <a:endParaRPr lang="en-US" sz="2000" dirty="0"/>
          </a:p>
        </p:txBody>
      </p:sp>
    </p:spTree>
    <p:extLst>
      <p:ext uri="{BB962C8B-B14F-4D97-AF65-F5344CB8AC3E}">
        <p14:creationId xmlns:p14="http://schemas.microsoft.com/office/powerpoint/2010/main" val="3272618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7FB9-C098-6C66-A52A-57802C0769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882897-08C7-CCB7-551A-BBA13032C5AE}"/>
              </a:ext>
            </a:extLst>
          </p:cNvPr>
          <p:cNvSpPr>
            <a:spLocks noGrp="1"/>
          </p:cNvSpPr>
          <p:nvPr>
            <p:ph idx="1"/>
          </p:nvPr>
        </p:nvSpPr>
        <p:spPr>
          <a:xfrm>
            <a:off x="729019" y="993114"/>
            <a:ext cx="10475794" cy="4506936"/>
          </a:xfrm>
        </p:spPr>
        <p:txBody>
          <a:bodyPr>
            <a:noAutofit/>
          </a:bodyPr>
          <a:lstStyle/>
          <a:p>
            <a:pPr marL="0" indent="0">
              <a:buNone/>
            </a:pPr>
            <a:r>
              <a:rPr lang="en-US" sz="2000" b="1" dirty="0"/>
              <a:t>Module 12: Continual Learning Module</a:t>
            </a:r>
          </a:p>
          <a:p>
            <a:r>
              <a:rPr lang="en-US" sz="2000" dirty="0"/>
              <a:t>System behavior and attack strategies evolve over time, causing static models to degrade.</a:t>
            </a:r>
          </a:p>
          <a:p>
            <a:r>
              <a:rPr lang="en-US" sz="2000" dirty="0"/>
              <a:t>This module incrementally updates the learning model using new behavioral information.</a:t>
            </a:r>
          </a:p>
          <a:p>
            <a:r>
              <a:rPr lang="en-US" sz="2000" dirty="0"/>
              <a:t>It incorporates new knowledge while preserving previously learned behavior patterns.</a:t>
            </a:r>
          </a:p>
          <a:p>
            <a:r>
              <a:rPr lang="en-US" sz="2000" dirty="0"/>
              <a:t>This prevents catastrophic forgetting and ensures long-term effectiveness.</a:t>
            </a:r>
          </a:p>
          <a:p>
            <a:pPr marL="0" indent="0">
              <a:buNone/>
            </a:pPr>
            <a:endParaRPr lang="en-US" sz="2000" dirty="0"/>
          </a:p>
          <a:p>
            <a:pPr marL="0" indent="0">
              <a:buNone/>
            </a:pPr>
            <a:r>
              <a:rPr lang="en-US" sz="2000" b="1" dirty="0"/>
              <a:t>Module 13: Explainable Security Dashboard</a:t>
            </a:r>
          </a:p>
          <a:p>
            <a:r>
              <a:rPr lang="en-US" sz="2000" dirty="0"/>
              <a:t>Detection results are presented in an interpretable and human-readable format.</a:t>
            </a:r>
          </a:p>
          <a:p>
            <a:r>
              <a:rPr lang="en-US" sz="2000" dirty="0"/>
              <a:t>This module visualizes behavioral graphs, attack timelines, and confidence scores.</a:t>
            </a:r>
          </a:p>
          <a:p>
            <a:r>
              <a:rPr lang="en-US" sz="2000" dirty="0"/>
              <a:t>It explains why a particular behavior was flagged as suspicious.</a:t>
            </a:r>
          </a:p>
          <a:p>
            <a:r>
              <a:rPr lang="en-US" sz="2000" dirty="0"/>
              <a:t>Human analysts can understand, verify, and trust the system’s decisions.</a:t>
            </a:r>
          </a:p>
          <a:p>
            <a:pPr marL="0" indent="0">
              <a:buNone/>
            </a:pPr>
            <a:endParaRPr lang="en-US" sz="2000" dirty="0"/>
          </a:p>
        </p:txBody>
      </p:sp>
    </p:spTree>
    <p:extLst>
      <p:ext uri="{BB962C8B-B14F-4D97-AF65-F5344CB8AC3E}">
        <p14:creationId xmlns:p14="http://schemas.microsoft.com/office/powerpoint/2010/main" val="1178513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279</TotalTime>
  <Words>1915</Words>
  <Application>Microsoft Office PowerPoint</Application>
  <PresentationFormat>Widescreen</PresentationFormat>
  <Paragraphs>150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Arial,Sans-Serif</vt:lpstr>
      <vt:lpstr>Courier New</vt:lpstr>
      <vt:lpstr>Tw Cen MT</vt:lpstr>
      <vt:lpstr>office theme</vt:lpstr>
      <vt:lpstr>  0TH REVIEW PPT    A Self-Supervised Behavioral Graph Framework for Zero-Day Cyber Attack Detection with Continual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wise description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UET4Rec: A Hybrid U-Net and Transformer Model for Sequential Recommendations</dc:title>
  <dc:creator>Pavitra N</dc:creator>
  <cp:lastModifiedBy>Sashank Gopalan</cp:lastModifiedBy>
  <cp:revision>570</cp:revision>
  <dcterms:created xsi:type="dcterms:W3CDTF">2024-09-08T18:24:00Z</dcterms:created>
  <dcterms:modified xsi:type="dcterms:W3CDTF">2026-01-22T05:22:30Z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395BF3FA45394774955B4F5F53212BFA_12</vt:lpwstr>
  </property>
  <property fmtid="{D5CDD505-2E9C-101B-9397-08002B2CF9AE}" pid="3" name="KSOProductBuildVer">
    <vt:lpwstr>1033-12.2.0.18607</vt:lpwstr>
  </property>
</Properties>
</file>