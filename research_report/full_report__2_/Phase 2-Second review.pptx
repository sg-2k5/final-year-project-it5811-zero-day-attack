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sldIdLst>
    <p:sldId id="256" r:id="rId12"/>
    <p:sldId id="258" r:id="rId13"/>
    <p:sldId id="260" r:id="rId14"/>
    <p:sldId id="261" r:id="rId15"/>
    <p:sldId id="262" r:id="rId16"/>
    <p:sldId id="263" r:id="rId17"/>
    <p:sldId id="264" r:id="rId18"/>
    <p:sldId id="259" r:id="rId19"/>
    <p:sldId id="280" r:id="rId20"/>
    <p:sldId id="265" r:id="rId21"/>
    <p:sldId id="274" r:id="rId22"/>
    <p:sldId id="273" r:id="rId23"/>
    <p:sldId id="278" r:id="rId24"/>
    <p:sldId id="279" r:id="rId25"/>
    <p:sldId id="266" r:id="rId26"/>
    <p:sldId id="275" r:id="rId27"/>
    <p:sldId id="276" r:id="rId28"/>
    <p:sldId id="277" r:id="rId29"/>
    <p:sldId id="281" r:id="rId30"/>
    <p:sldId id="283" r:id="rId31"/>
    <p:sldId id="284" r:id="rId32"/>
    <p:sldId id="282" r:id="rId33"/>
    <p:sldId id="285" r:id="rId34"/>
    <p:sldId id="286" r:id="rId35"/>
    <p:sldId id="287" r:id="rId36"/>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0878" autoAdjust="0"/>
    <p:restoredTop sz="94660"/>
  </p:normalViewPr>
  <p:slideViewPr>
    <p:cSldViewPr snapToGrid="0">
      <p:cViewPr varScale="1">
        <p:scale>
          <a:sx n="51" d="100"/>
          <a:sy n="51" d="100"/>
        </p:scale>
        <p:origin x="648"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theme" Target="theme/theme1.xml"/><Relationship Id="rId21" Type="http://schemas.openxmlformats.org/officeDocument/2006/relationships/slide" Target="slides/slide10.xml"/><Relationship Id="rId34" Type="http://schemas.openxmlformats.org/officeDocument/2006/relationships/slide" Target="slides/slide23.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10" Type="http://schemas.openxmlformats.org/officeDocument/2006/relationships/slideMaster" Target="slideMasters/slideMaster10.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8" Type="http://schemas.openxmlformats.org/officeDocument/2006/relationships/slideMaster" Target="slideMasters/slideMaster8.xml"/><Relationship Id="rId3" Type="http://schemas.openxmlformats.org/officeDocument/2006/relationships/slideMaster" Target="slideMasters/slideMaster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Arial"/>
            </a:endParaRPr>
          </a:p>
        </p:txBody>
      </p:sp>
      <p:sp>
        <p:nvSpPr>
          <p:cNvPr id="4" name="PlaceHolder 3"/>
          <p:cNvSpPr>
            <a:spLocks noGrp="1"/>
          </p:cNvSpPr>
          <p:nvPr>
            <p:ph type="ftr" idx="2"/>
          </p:nvPr>
        </p:nvSpPr>
        <p:spPr/>
        <p:txBody>
          <a:bodyPr/>
          <a:lstStyle/>
          <a:p>
            <a:r>
              <a:t>Footer</a:t>
            </a:r>
          </a:p>
        </p:txBody>
      </p:sp>
      <p:sp>
        <p:nvSpPr>
          <p:cNvPr id="2" name="PlaceHolder 4"/>
          <p:cNvSpPr>
            <a:spLocks noGrp="1"/>
          </p:cNvSpPr>
          <p:nvPr>
            <p:ph type="sldNum" idx="3"/>
          </p:nvPr>
        </p:nvSpPr>
        <p:spPr/>
        <p:txBody>
          <a:bodyPr/>
          <a:lstStyle/>
          <a:p>
            <a:fld id="{DA9F98D9-A5D4-4970-824C-1BB424CF89A8}" type="slidenum">
              <a:t>‹#›</a:t>
            </a:fld>
            <a:endParaRPr/>
          </a:p>
        </p:txBody>
      </p:sp>
      <p:sp>
        <p:nvSpPr>
          <p:cNvPr id="3"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F01727A1-B958-44E4-AF18-A84A04439B7A}"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6C222977-1541-4AD3-B290-3C7364D5E8D0}"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23"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Aptos"/>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1D8E050F-757C-49BD-893A-B6903774D595}" type="slidenum">
              <a:t>‹#›</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48FF5CA1-986D-4FA8-92AE-5FA8DE3F75D4}" type="slidenum">
              <a:t>‹#›</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36"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Aptos"/>
            </a:endParaRPr>
          </a:p>
        </p:txBody>
      </p:sp>
      <p:sp>
        <p:nvSpPr>
          <p:cNvPr id="37"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417"/>
              </a:spcBef>
              <a:buNone/>
            </a:pPr>
            <a:endParaRPr lang="en-US" sz="2800" b="0" strike="noStrike" spc="-1">
              <a:solidFill>
                <a:schemeClr val="dk1"/>
              </a:solidFill>
              <a:latin typeface="Aptos"/>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EE608B4A-E763-435A-9473-A630DF7371C3}" type="slidenum">
              <a:t>‹#›</a:t>
            </a:fld>
            <a:endParaRPr/>
          </a:p>
        </p:txBody>
      </p:sp>
      <p:sp>
        <p:nvSpPr>
          <p:cNvPr id="7" name="PlaceHolder 6"/>
          <p:cNvSpPr>
            <a:spLocks noGrp="1"/>
          </p:cNvSpPr>
          <p:nvPr>
            <p:ph type="dt" idx="16"/>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EF866766-9AD7-4102-B24C-EBDD57E2CFE0}" type="slidenum">
              <a:t>‹#›</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Aptos"/>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7831C85B-1FFE-4A81-948E-5732867295B7}" type="slidenum">
              <a:t>‹#›</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492EF11C-45D0-4B64-B197-F9B8A2C1D398}" type="slidenum">
              <a:t>‹#›</a:t>
            </a:fld>
            <a:endParaRPr/>
          </a:p>
        </p:txBody>
      </p:sp>
      <p:sp>
        <p:nvSpPr>
          <p:cNvPr id="4" name="PlaceHolder 3"/>
          <p:cNvSpPr>
            <a:spLocks noGrp="1"/>
          </p:cNvSpPr>
          <p:nvPr>
            <p:ph type="dt" idx="25"/>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091C84DF-FA63-4786-B699-1FDF4853C9E0}" type="slidenum">
              <a:t>‹#›</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4E64CE4F-673E-4562-AD99-D3CCACE87438}" type="slidenum">
              <a:t>‹#›</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buNone/>
            </a:pPr>
            <a:r>
              <a:rPr lang="en-US" sz="6000" b="0" strike="noStrike" spc="-1">
                <a:solidFill>
                  <a:schemeClr val="dk1"/>
                </a:solidFill>
                <a:latin typeface="Aptos Display"/>
              </a:rPr>
              <a:t>Click to edit Master title style</a:t>
            </a:r>
            <a:endParaRPr lang="en-US" sz="6000" b="0" strike="noStrike" spc="-1">
              <a:solidFill>
                <a:schemeClr val="dk1"/>
              </a:solidFill>
              <a:latin typeface="Aptos"/>
            </a:endParaRPr>
          </a:p>
        </p:txBody>
      </p:sp>
      <p:sp>
        <p:nvSpPr>
          <p:cNvPr id="6"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3D12C8AC-DA88-4219-AC7B-D9C4A40D72F6}"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chemeClr val="dk1"/>
                </a:solidFill>
                <a:latin typeface="Aptos"/>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chemeClr val="dk1"/>
                </a:solidFill>
                <a:latin typeface="Aptos"/>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chemeClr val="dk1"/>
                </a:solidFill>
                <a:latin typeface="Aptos"/>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chemeClr val="dk1"/>
                </a:solidFill>
                <a:latin typeface="Aptos"/>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1A5467F2-BDE1-4CCE-8D90-0F47593A20C1}"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668DDDB1-8569-4A5D-B4F6-AF4A16CF7368}"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FB84AFCB-1D0F-47E2-8040-BCC3989E4516}"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p>
            <a:pPr indent="0" defTabSz="914400">
              <a:lnSpc>
                <a:spcPct val="90000"/>
              </a:lnSpc>
              <a:buNone/>
            </a:pPr>
            <a:r>
              <a:rPr lang="en-US" sz="6000" b="0" strike="noStrike" spc="-1">
                <a:solidFill>
                  <a:schemeClr val="dk1"/>
                </a:solidFill>
                <a:latin typeface="Aptos Display"/>
              </a:rPr>
              <a:t>Click to edit Master title style</a:t>
            </a:r>
            <a:endParaRPr lang="en-US" sz="6000" b="0" strike="noStrike" spc="-1">
              <a:solidFill>
                <a:schemeClr val="dk1"/>
              </a:solidFill>
              <a:latin typeface="Aptos"/>
            </a:endParaRPr>
          </a:p>
        </p:txBody>
      </p:sp>
      <p:sp>
        <p:nvSpPr>
          <p:cNvPr id="25"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400" b="0" strike="noStrike" spc="-1">
                <a:solidFill>
                  <a:schemeClr val="dk1">
                    <a:tint val="82000"/>
                  </a:schemeClr>
                </a:solidFill>
                <a:latin typeface="Aptos"/>
              </a:rPr>
              <a:t>Click to edit Master text styles</a:t>
            </a:r>
            <a:endParaRPr lang="en-US" sz="2400" b="0" strike="noStrike" spc="-1">
              <a:solidFill>
                <a:schemeClr val="dk1"/>
              </a:solidFill>
              <a:latin typeface="Aptos"/>
            </a:endParaRPr>
          </a:p>
        </p:txBody>
      </p:sp>
      <p:sp>
        <p:nvSpPr>
          <p:cNvPr id="26"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27"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28"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3F5F4940-E37A-4A5B-9515-A4E2AEADA2D6}"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30"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31"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32"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33"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34"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2E4D60FD-2DF9-40B4-99B5-F01D616E2186}"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39"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strike="noStrike" spc="-1">
                <a:solidFill>
                  <a:schemeClr val="dk1"/>
                </a:solidFill>
                <a:latin typeface="Aptos"/>
              </a:rPr>
              <a:t>Click to edit Master text styles</a:t>
            </a:r>
            <a:endParaRPr lang="en-US" sz="2400" b="0" strike="noStrike" spc="-1">
              <a:solidFill>
                <a:schemeClr val="dk1"/>
              </a:solidFill>
              <a:latin typeface="Aptos"/>
            </a:endParaRPr>
          </a:p>
        </p:txBody>
      </p:sp>
      <p:sp>
        <p:nvSpPr>
          <p:cNvPr id="40"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41"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p>
            <a:pPr indent="0" defTabSz="914400">
              <a:lnSpc>
                <a:spcPct val="90000"/>
              </a:lnSpc>
              <a:spcBef>
                <a:spcPts val="1001"/>
              </a:spcBef>
              <a:buNone/>
              <a:tabLst>
                <a:tab pos="0" algn="l"/>
              </a:tabLst>
            </a:pPr>
            <a:r>
              <a:rPr lang="en-US" sz="2400" b="1" strike="noStrike" spc="-1">
                <a:solidFill>
                  <a:schemeClr val="dk1"/>
                </a:solidFill>
                <a:latin typeface="Aptos"/>
              </a:rPr>
              <a:t>Click to edit Master text styles</a:t>
            </a:r>
            <a:endParaRPr lang="en-US" sz="2400" b="0" strike="noStrike" spc="-1">
              <a:solidFill>
                <a:schemeClr val="dk1"/>
              </a:solidFill>
              <a:latin typeface="Aptos"/>
            </a:endParaRPr>
          </a:p>
        </p:txBody>
      </p:sp>
      <p:sp>
        <p:nvSpPr>
          <p:cNvPr id="42"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28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4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0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1800" b="0" strike="noStrike" spc="-1">
                <a:solidFill>
                  <a:schemeClr val="dk1"/>
                </a:solidFill>
                <a:latin typeface="Aptos"/>
              </a:rPr>
              <a:t>Fifth level</a:t>
            </a:r>
          </a:p>
        </p:txBody>
      </p:sp>
      <p:sp>
        <p:nvSpPr>
          <p:cNvPr id="43"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44"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5"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5BD3E534-95FE-461A-AB20-868187F6CC20}"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Click to edit Master title style</a:t>
            </a:r>
            <a:endParaRPr lang="en-US" sz="4400" b="0" strike="noStrike" spc="-1">
              <a:solidFill>
                <a:schemeClr val="dk1"/>
              </a:solidFill>
              <a:latin typeface="Aptos"/>
            </a:endParaRPr>
          </a:p>
        </p:txBody>
      </p:sp>
      <p:sp>
        <p:nvSpPr>
          <p:cNvPr id="47"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48"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49"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8B8A8960-B4E1-411C-88C7-FA07612CB519}"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52"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53"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D2636860-344D-433B-997D-BB0344528431}"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
        <p:nvSpPr>
          <p:cNvPr id="54"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Aptos"/>
              </a:rPr>
              <a:t>Click to edit the title text format</a:t>
            </a:r>
          </a:p>
        </p:txBody>
      </p:sp>
      <p:sp>
        <p:nvSpPr>
          <p:cNvPr id="5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en-US" sz="2800" b="0" strike="noStrike" spc="-1">
                <a:solidFill>
                  <a:schemeClr val="dk1"/>
                </a:solidFill>
                <a:latin typeface="Aptos"/>
              </a:rPr>
              <a:t>Click to edit the outline text format</a:t>
            </a:r>
          </a:p>
          <a:p>
            <a:pPr marL="864000" lvl="1" indent="-324000">
              <a:lnSpc>
                <a:spcPct val="90000"/>
              </a:lnSpc>
              <a:spcBef>
                <a:spcPts val="1134"/>
              </a:spcBef>
              <a:buClr>
                <a:srgbClr val="000000"/>
              </a:buClr>
              <a:buSzPct val="75000"/>
              <a:buFont typeface="Symbol" charset="2"/>
              <a:buChar char=""/>
            </a:pPr>
            <a:r>
              <a:rPr lang="en-US" sz="2000" b="0" strike="noStrike" spc="-1">
                <a:solidFill>
                  <a:schemeClr val="dk1"/>
                </a:solidFill>
                <a:latin typeface="Aptos"/>
              </a:rPr>
              <a:t>Second Outline Level</a:t>
            </a:r>
          </a:p>
          <a:p>
            <a:pPr marL="1296000" lvl="2" indent="-288000">
              <a:lnSpc>
                <a:spcPct val="90000"/>
              </a:lnSpc>
              <a:spcBef>
                <a:spcPts val="850"/>
              </a:spcBef>
              <a:buClr>
                <a:srgbClr val="000000"/>
              </a:buClr>
              <a:buSzPct val="45000"/>
              <a:buFont typeface="Wingdings" charset="2"/>
              <a:buChar char=""/>
            </a:pPr>
            <a:r>
              <a:rPr lang="en-US" sz="1800" b="0" strike="noStrike" spc="-1">
                <a:solidFill>
                  <a:schemeClr val="dk1"/>
                </a:solidFill>
                <a:latin typeface="Aptos"/>
              </a:rPr>
              <a:t>Third Outline Level</a:t>
            </a:r>
          </a:p>
          <a:p>
            <a:pPr marL="1728000" lvl="3" indent="-216000">
              <a:lnSpc>
                <a:spcPct val="90000"/>
              </a:lnSpc>
              <a:spcBef>
                <a:spcPts val="567"/>
              </a:spcBef>
              <a:buClr>
                <a:srgbClr val="000000"/>
              </a:buClr>
              <a:buSzPct val="75000"/>
              <a:buFont typeface="Symbol" charset="2"/>
              <a:buChar char=""/>
            </a:pPr>
            <a:r>
              <a:rPr lang="en-US" sz="1800" b="0" strike="noStrike" spc="-1">
                <a:solidFill>
                  <a:schemeClr val="dk1"/>
                </a:solidFill>
                <a:latin typeface="Aptos"/>
              </a:rPr>
              <a:t>Fourth Outline Level</a:t>
            </a:r>
          </a:p>
          <a:p>
            <a:pPr marL="2160000" lvl="4"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Fifth Outline Level</a:t>
            </a:r>
          </a:p>
          <a:p>
            <a:pPr marL="2592000" lvl="5"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Sixth Outline Level</a:t>
            </a:r>
          </a:p>
          <a:p>
            <a:pPr marL="3024000" lvl="6" indent="-216000">
              <a:lnSpc>
                <a:spcPct val="90000"/>
              </a:lnSpc>
              <a:spcBef>
                <a:spcPts val="283"/>
              </a:spcBef>
              <a:buClr>
                <a:srgbClr val="000000"/>
              </a:buClr>
              <a:buSzPct val="45000"/>
              <a:buFont typeface="Wingdings" charset="2"/>
              <a:buChar char=""/>
            </a:pPr>
            <a:r>
              <a:rPr lang="en-US" sz="2000" b="0" strike="noStrike" spc="-1">
                <a:solidFill>
                  <a:schemeClr val="dk1"/>
                </a:solidFill>
                <a:latin typeface="Aptos"/>
              </a:rPr>
              <a:t>Seventh Outline Level</a:t>
            </a: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strike="noStrike" spc="-1">
                <a:solidFill>
                  <a:schemeClr val="dk1"/>
                </a:solidFill>
                <a:latin typeface="Aptos Display"/>
              </a:rPr>
              <a:t>Click to edit Master title style</a:t>
            </a:r>
            <a:endParaRPr lang="en-US" sz="3200" b="0" strike="noStrike" spc="-1">
              <a:solidFill>
                <a:schemeClr val="dk1"/>
              </a:solidFill>
              <a:latin typeface="Aptos"/>
            </a:endParaRPr>
          </a:p>
        </p:txBody>
      </p:sp>
      <p:sp>
        <p:nvSpPr>
          <p:cNvPr id="57"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p>
            <a:pPr marL="228600" indent="-228600" defTabSz="914400">
              <a:lnSpc>
                <a:spcPct val="90000"/>
              </a:lnSpc>
              <a:spcBef>
                <a:spcPts val="1001"/>
              </a:spcBef>
              <a:buClr>
                <a:srgbClr val="000000"/>
              </a:buClr>
              <a:buFont typeface="Arial"/>
              <a:buChar char="•"/>
            </a:pPr>
            <a:r>
              <a:rPr lang="en-US" sz="3200" b="0" strike="noStrike" spc="-1">
                <a:solidFill>
                  <a:schemeClr val="dk1"/>
                </a:solidFill>
                <a:latin typeface="Aptos"/>
              </a:rPr>
              <a:t>Click to edit Master text styles</a:t>
            </a:r>
          </a:p>
          <a:p>
            <a:pPr marL="685800" lvl="1" indent="-228600" defTabSz="914400">
              <a:lnSpc>
                <a:spcPct val="90000"/>
              </a:lnSpc>
              <a:spcBef>
                <a:spcPts val="499"/>
              </a:spcBef>
              <a:buClr>
                <a:srgbClr val="000000"/>
              </a:buClr>
              <a:buFont typeface="Arial"/>
              <a:buChar char="•"/>
            </a:pPr>
            <a:r>
              <a:rPr lang="en-US" sz="2800" b="0" strike="noStrike" spc="-1">
                <a:solidFill>
                  <a:schemeClr val="dk1"/>
                </a:solidFill>
                <a:latin typeface="Aptos"/>
              </a:rPr>
              <a:t>Second level</a:t>
            </a:r>
          </a:p>
          <a:p>
            <a:pPr marL="1143000" lvl="2" indent="-228600" defTabSz="914400">
              <a:lnSpc>
                <a:spcPct val="90000"/>
              </a:lnSpc>
              <a:spcBef>
                <a:spcPts val="499"/>
              </a:spcBef>
              <a:buClr>
                <a:srgbClr val="000000"/>
              </a:buClr>
              <a:buFont typeface="Arial"/>
              <a:buChar char="•"/>
            </a:pPr>
            <a:r>
              <a:rPr lang="en-US" sz="2400" b="0" strike="noStrike" spc="-1">
                <a:solidFill>
                  <a:schemeClr val="dk1"/>
                </a:solidFill>
                <a:latin typeface="Aptos"/>
              </a:rPr>
              <a:t>Third level</a:t>
            </a:r>
          </a:p>
          <a:p>
            <a:pPr marL="1600200" lvl="3" indent="-228600" defTabSz="914400">
              <a:lnSpc>
                <a:spcPct val="90000"/>
              </a:lnSpc>
              <a:spcBef>
                <a:spcPts val="499"/>
              </a:spcBef>
              <a:buClr>
                <a:srgbClr val="000000"/>
              </a:buClr>
              <a:buFont typeface="Arial"/>
              <a:buChar char="•"/>
            </a:pPr>
            <a:r>
              <a:rPr lang="en-US" sz="2000" b="0" strike="noStrike" spc="-1">
                <a:solidFill>
                  <a:schemeClr val="dk1"/>
                </a:solidFill>
                <a:latin typeface="Aptos"/>
              </a:rPr>
              <a:t>Fourth level</a:t>
            </a:r>
          </a:p>
          <a:p>
            <a:pPr marL="2057400" lvl="4" indent="-228600" defTabSz="914400">
              <a:lnSpc>
                <a:spcPct val="90000"/>
              </a:lnSpc>
              <a:spcBef>
                <a:spcPts val="499"/>
              </a:spcBef>
              <a:buClr>
                <a:srgbClr val="000000"/>
              </a:buClr>
              <a:buFont typeface="Arial"/>
              <a:buChar char="•"/>
            </a:pPr>
            <a:r>
              <a:rPr lang="en-US" sz="2000" b="0" strike="noStrike" spc="-1">
                <a:solidFill>
                  <a:schemeClr val="dk1"/>
                </a:solidFill>
                <a:latin typeface="Aptos"/>
              </a:rPr>
              <a:t>Fifth level</a:t>
            </a:r>
          </a:p>
        </p:txBody>
      </p:sp>
      <p:sp>
        <p:nvSpPr>
          <p:cNvPr id="58"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strike="noStrike" spc="-1">
                <a:solidFill>
                  <a:schemeClr val="dk1"/>
                </a:solidFill>
                <a:latin typeface="Aptos"/>
              </a:rPr>
              <a:t>Click to edit Master text styles</a:t>
            </a:r>
          </a:p>
        </p:txBody>
      </p:sp>
      <p:sp>
        <p:nvSpPr>
          <p:cNvPr id="59"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60"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1"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FC42B456-D4D8-4A54-B4EB-133988773E7F}"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p>
            <a:pPr indent="0" defTabSz="914400">
              <a:lnSpc>
                <a:spcPct val="90000"/>
              </a:lnSpc>
              <a:buNone/>
            </a:pPr>
            <a:r>
              <a:rPr lang="en-US" sz="3200" b="0" strike="noStrike" spc="-1">
                <a:solidFill>
                  <a:schemeClr val="dk1"/>
                </a:solidFill>
                <a:latin typeface="Aptos Display"/>
              </a:rPr>
              <a:t>Click to edit Master title style</a:t>
            </a:r>
            <a:endParaRPr lang="en-US" sz="3200" b="0" strike="noStrike" spc="-1">
              <a:solidFill>
                <a:schemeClr val="dk1"/>
              </a:solidFill>
              <a:latin typeface="Aptos"/>
            </a:endParaRPr>
          </a:p>
        </p:txBody>
      </p:sp>
      <p:sp>
        <p:nvSpPr>
          <p:cNvPr id="63"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p>
            <a:pPr indent="0" defTabSz="914400">
              <a:lnSpc>
                <a:spcPct val="100000"/>
              </a:lnSpc>
              <a:buNone/>
              <a:tabLst>
                <a:tab pos="0" algn="l"/>
              </a:tabLst>
            </a:pPr>
            <a:r>
              <a:rPr lang="en-US" sz="3200" b="0" strike="noStrike" spc="-1">
                <a:solidFill>
                  <a:schemeClr val="dk1"/>
                </a:solidFill>
                <a:latin typeface="Aptos"/>
              </a:rPr>
              <a:t>Click icon to add picture</a:t>
            </a:r>
          </a:p>
        </p:txBody>
      </p:sp>
      <p:sp>
        <p:nvSpPr>
          <p:cNvPr id="64"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1600" b="0" strike="noStrike" spc="-1">
                <a:solidFill>
                  <a:schemeClr val="dk1"/>
                </a:solidFill>
                <a:latin typeface="Aptos"/>
              </a:rPr>
              <a:t>Click to edit Master text styles</a:t>
            </a:r>
          </a:p>
        </p:txBody>
      </p:sp>
      <p:sp>
        <p:nvSpPr>
          <p:cNvPr id="65"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82000"/>
                  </a:schemeClr>
                </a:solidFill>
                <a:latin typeface="Aptos"/>
              </a:defRPr>
            </a:lvl1pPr>
          </a:lstStyle>
          <a:p>
            <a:pPr indent="0" defTabSz="914400">
              <a:lnSpc>
                <a:spcPct val="100000"/>
              </a:lnSpc>
              <a:buNone/>
            </a:pPr>
            <a:r>
              <a:rPr lang="en-US" sz="1200" b="0" strike="noStrike" spc="-1">
                <a:solidFill>
                  <a:schemeClr val="dk1">
                    <a:tint val="82000"/>
                  </a:schemeClr>
                </a:solidFill>
                <a:latin typeface="Aptos"/>
              </a:rPr>
              <a:t>&lt;date/time&gt;</a:t>
            </a:r>
            <a:endParaRPr lang="en-US" sz="1200" b="0" strike="noStrike" spc="-1">
              <a:solidFill>
                <a:srgbClr val="000000"/>
              </a:solidFill>
              <a:latin typeface="Times New Roman"/>
            </a:endParaRPr>
          </a:p>
        </p:txBody>
      </p:sp>
      <p:sp>
        <p:nvSpPr>
          <p:cNvPr id="66"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strike="noStrike" spc="-1">
                <a:solidFill>
                  <a:srgbClr val="000000"/>
                </a:solidFill>
                <a:latin typeface="Times New Roman"/>
              </a:defRPr>
            </a:lvl1pPr>
          </a:lstStyle>
          <a:p>
            <a:pPr indent="0" algn="ctr">
              <a:buNone/>
            </a:pPr>
            <a:r>
              <a:rPr lang="en-US" sz="1400" b="0" strike="noStrike" spc="-1">
                <a:solidFill>
                  <a:srgbClr val="000000"/>
                </a:solidFill>
                <a:latin typeface="Times New Roman"/>
              </a:rPr>
              <a:t>&lt;footer&gt;</a:t>
            </a:r>
          </a:p>
        </p:txBody>
      </p:sp>
      <p:sp>
        <p:nvSpPr>
          <p:cNvPr id="67"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82000"/>
                  </a:schemeClr>
                </a:solidFill>
                <a:latin typeface="Aptos"/>
              </a:defRPr>
            </a:lvl1pPr>
          </a:lstStyle>
          <a:p>
            <a:pPr indent="0" algn="r" defTabSz="914400">
              <a:lnSpc>
                <a:spcPct val="100000"/>
              </a:lnSpc>
              <a:buNone/>
            </a:pPr>
            <a:fld id="{4553ED0F-4BB0-4E52-A003-37B1EC83C143}" type="slidenum">
              <a:rPr lang="en-US" sz="1200" b="0" strike="noStrike" spc="-1">
                <a:solidFill>
                  <a:schemeClr val="dk1">
                    <a:tint val="82000"/>
                  </a:schemeClr>
                </a:solidFill>
                <a:latin typeface="Aptos"/>
              </a:rPr>
              <a:t>‹#›</a:t>
            </a:fld>
            <a:endParaRPr lang="en-US"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1793160" y="1760400"/>
            <a:ext cx="8428680" cy="848160"/>
          </a:xfrm>
          <a:prstGeom prst="rect">
            <a:avLst/>
          </a:prstGeom>
          <a:noFill/>
          <a:ln w="0">
            <a:noFill/>
          </a:ln>
        </p:spPr>
        <p:txBody>
          <a:bodyPr lIns="91440" tIns="45720" rIns="91440" bIns="45720" anchor="b">
            <a:noAutofit/>
          </a:bodyPr>
          <a:lstStyle/>
          <a:p>
            <a:pPr indent="0" algn="ctr" defTabSz="914400">
              <a:lnSpc>
                <a:spcPct val="90000"/>
              </a:lnSpc>
              <a:buNone/>
            </a:pPr>
            <a:br>
              <a:rPr sz="2800" dirty="0"/>
            </a:br>
            <a:br>
              <a:rPr sz="2800" dirty="0"/>
            </a:br>
            <a:r>
              <a:rPr lang="en-US" sz="2800" spc="-1" dirty="0">
                <a:solidFill>
                  <a:schemeClr val="dk1"/>
                </a:solidFill>
                <a:latin typeface="Aptos Display"/>
              </a:rPr>
              <a:t>1</a:t>
            </a:r>
            <a:r>
              <a:rPr lang="en-US" sz="2800" spc="-1" baseline="30000" dirty="0">
                <a:solidFill>
                  <a:schemeClr val="dk1"/>
                </a:solidFill>
                <a:latin typeface="Aptos Display"/>
              </a:rPr>
              <a:t>ST</a:t>
            </a:r>
            <a:r>
              <a:rPr lang="en-US" sz="2800" b="0" strike="noStrike" spc="-1" dirty="0">
                <a:solidFill>
                  <a:schemeClr val="dk1"/>
                </a:solidFill>
                <a:latin typeface="Aptos Display"/>
                <a:ea typeface="Aptos Display"/>
              </a:rPr>
              <a:t> REVIEW </a:t>
            </a:r>
            <a:br>
              <a:rPr sz="2800" dirty="0"/>
            </a:br>
            <a:br>
              <a:rPr sz="2800" dirty="0"/>
            </a:br>
            <a:br>
              <a:rPr sz="2800" dirty="0"/>
            </a:br>
            <a:r>
              <a:rPr lang="en-US" sz="2800" b="0" strike="noStrike" spc="-1" dirty="0">
                <a:solidFill>
                  <a:schemeClr val="dk1"/>
                </a:solidFill>
                <a:latin typeface="Aptos Display"/>
                <a:ea typeface="Aptos Display"/>
              </a:rPr>
              <a:t> </a:t>
            </a:r>
            <a:r>
              <a:rPr lang="en-US" sz="2800" b="1" strike="noStrike" spc="-1" dirty="0">
                <a:solidFill>
                  <a:schemeClr val="dk1"/>
                </a:solidFill>
                <a:latin typeface="Aptos Display"/>
                <a:ea typeface="Aptos Display"/>
              </a:rPr>
              <a:t>A Self-Supervised Behavioral Graph Framework for Zero-Day Cyber Attack Detection with Continual Learning </a:t>
            </a:r>
            <a:endParaRPr lang="en-US" sz="2800" b="0" strike="noStrike" spc="-1" dirty="0">
              <a:solidFill>
                <a:schemeClr val="dk1"/>
              </a:solidFill>
              <a:latin typeface="Aptos"/>
            </a:endParaRPr>
          </a:p>
        </p:txBody>
      </p:sp>
      <p:sp>
        <p:nvSpPr>
          <p:cNvPr id="69"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rmAutofit/>
          </a:bodyPr>
          <a:lstStyle/>
          <a:p>
            <a:pPr indent="0" algn="ctr" defTabSz="914400">
              <a:lnSpc>
                <a:spcPct val="90000"/>
              </a:lnSpc>
              <a:spcBef>
                <a:spcPts val="1001"/>
              </a:spcBef>
              <a:buNone/>
              <a:tabLst>
                <a:tab pos="0" algn="l"/>
              </a:tabLst>
            </a:pPr>
            <a:r>
              <a:rPr lang="en-US" sz="2400" b="0" strike="noStrike" spc="-1" dirty="0">
                <a:solidFill>
                  <a:schemeClr val="dk1"/>
                </a:solidFill>
                <a:latin typeface="Aptos"/>
              </a:rPr>
              <a:t>  </a:t>
            </a:r>
            <a:endParaRPr lang="en-US" sz="2400" b="0" strike="noStrike" spc="-1" dirty="0">
              <a:solidFill>
                <a:srgbClr val="000000"/>
              </a:solidFill>
              <a:latin typeface="Arial"/>
            </a:endParaRPr>
          </a:p>
        </p:txBody>
      </p:sp>
      <p:sp>
        <p:nvSpPr>
          <p:cNvPr id="70" name="Subtitle 2"/>
          <p:cNvSpPr/>
          <p:nvPr/>
        </p:nvSpPr>
        <p:spPr>
          <a:xfrm>
            <a:off x="3052800" y="2808000"/>
            <a:ext cx="7767000" cy="1940400"/>
          </a:xfrm>
          <a:prstGeom prst="rect">
            <a:avLst/>
          </a:prstGeom>
          <a:noFill/>
          <a:ln w="0">
            <a:noFill/>
          </a:ln>
        </p:spPr>
        <p:style>
          <a:lnRef idx="0">
            <a:scrgbClr r="0" g="0" b="0"/>
          </a:lnRef>
          <a:fillRef idx="0">
            <a:scrgbClr r="0" g="0" b="0"/>
          </a:fillRef>
          <a:effectRef idx="0">
            <a:scrgbClr r="0" g="0" b="0"/>
          </a:effectRef>
          <a:fontRef idx="minor"/>
        </p:style>
        <p:txBody>
          <a:bodyPr anchor="t">
            <a:noAutofit/>
          </a:bodyPr>
          <a:lstStyle/>
          <a:p>
            <a:pPr algn="r" defTabSz="914400">
              <a:lnSpc>
                <a:spcPct val="120000"/>
              </a:lnSpc>
              <a:spcBef>
                <a:spcPts val="1001"/>
              </a:spcBef>
              <a:tabLst>
                <a:tab pos="0" algn="l"/>
              </a:tabLst>
            </a:pPr>
            <a:r>
              <a:rPr lang="en-US" sz="1800" b="1" strike="noStrike" cap="all" spc="-1">
                <a:solidFill>
                  <a:schemeClr val="dk1"/>
                </a:solidFill>
                <a:latin typeface="Aptos"/>
              </a:rPr>
              <a:t>Phavankumar RL </a:t>
            </a:r>
            <a:r>
              <a:rPr lang="en-US" sz="1800" b="0" strike="noStrike" cap="all" spc="-1">
                <a:solidFill>
                  <a:schemeClr val="dk1"/>
                </a:solidFill>
                <a:latin typeface="Aptos"/>
              </a:rPr>
              <a:t>2022115054</a:t>
            </a:r>
            <a:r>
              <a:rPr lang="en-US" sz="1800" b="1" strike="noStrike" cap="all" spc="-1">
                <a:solidFill>
                  <a:schemeClr val="dk1"/>
                </a:solidFill>
                <a:latin typeface="Aptos"/>
              </a:rPr>
              <a:t> </a:t>
            </a:r>
            <a:endParaRPr lang="en-US" sz="1800" b="0" strike="noStrike" spc="-1">
              <a:solidFill>
                <a:srgbClr val="000000"/>
              </a:solidFill>
              <a:latin typeface="Arial"/>
            </a:endParaRPr>
          </a:p>
          <a:p>
            <a:pPr algn="r" defTabSz="914400">
              <a:lnSpc>
                <a:spcPct val="120000"/>
              </a:lnSpc>
              <a:spcBef>
                <a:spcPts val="1001"/>
              </a:spcBef>
              <a:tabLst>
                <a:tab pos="0" algn="l"/>
              </a:tabLst>
            </a:pPr>
            <a:r>
              <a:rPr lang="en-US" sz="1800" b="1" strike="noStrike" cap="all" spc="-1">
                <a:solidFill>
                  <a:schemeClr val="dk1"/>
                </a:solidFill>
                <a:latin typeface="Aptos"/>
              </a:rPr>
              <a:t>KAVISH S </a:t>
            </a:r>
            <a:r>
              <a:rPr lang="en-US" sz="1800" b="0" strike="noStrike" cap="all" spc="-1">
                <a:solidFill>
                  <a:schemeClr val="dk1"/>
                </a:solidFill>
                <a:latin typeface="Aptos"/>
              </a:rPr>
              <a:t>2022115001</a:t>
            </a:r>
            <a:endParaRPr lang="en-US" sz="1800" b="0" strike="noStrike" spc="-1">
              <a:solidFill>
                <a:srgbClr val="000000"/>
              </a:solidFill>
              <a:latin typeface="Arial"/>
            </a:endParaRPr>
          </a:p>
          <a:p>
            <a:pPr algn="r" defTabSz="914400">
              <a:lnSpc>
                <a:spcPct val="120000"/>
              </a:lnSpc>
              <a:spcBef>
                <a:spcPts val="1001"/>
              </a:spcBef>
              <a:tabLst>
                <a:tab pos="0" algn="l"/>
              </a:tabLst>
            </a:pPr>
            <a:r>
              <a:rPr lang="en-US" sz="1800" b="1" strike="noStrike" cap="all" spc="-1">
                <a:solidFill>
                  <a:schemeClr val="dk1"/>
                </a:solidFill>
                <a:latin typeface="Aptos"/>
              </a:rPr>
              <a:t> SASHANK GOPALAN </a:t>
            </a:r>
            <a:r>
              <a:rPr lang="en-US" sz="1800" b="0" strike="noStrike" cap="all" spc="-1">
                <a:solidFill>
                  <a:schemeClr val="dk1"/>
                </a:solidFill>
                <a:latin typeface="Aptos"/>
              </a:rPr>
              <a:t>2022115051</a:t>
            </a:r>
            <a:r>
              <a:rPr lang="en-US" sz="1800" b="1" strike="noStrike" cap="all" spc="-1">
                <a:solidFill>
                  <a:schemeClr val="dk1"/>
                </a:solidFill>
                <a:latin typeface="Aptos"/>
              </a:rPr>
              <a:t> </a:t>
            </a:r>
            <a:endParaRPr lang="en-US" sz="1800" b="0" strike="noStrike" spc="-1">
              <a:solidFill>
                <a:srgbClr val="000000"/>
              </a:solidFill>
              <a:latin typeface="Arial"/>
            </a:endParaRPr>
          </a:p>
          <a:p>
            <a:pPr algn="r" defTabSz="914400">
              <a:lnSpc>
                <a:spcPct val="120000"/>
              </a:lnSpc>
              <a:spcBef>
                <a:spcPts val="1001"/>
              </a:spcBef>
              <a:tabLst>
                <a:tab pos="0" algn="l"/>
              </a:tabLst>
            </a:pPr>
            <a:r>
              <a:rPr lang="en-US" sz="1800" b="1" strike="noStrike" cap="all" spc="-1">
                <a:solidFill>
                  <a:schemeClr val="dk1"/>
                </a:solidFill>
                <a:latin typeface="Aptos"/>
              </a:rPr>
              <a:t>SHREYAS S </a:t>
            </a:r>
            <a:r>
              <a:rPr lang="en-US" sz="1800" b="0" strike="noStrike" cap="all" spc="-1">
                <a:solidFill>
                  <a:schemeClr val="dk1"/>
                </a:solidFill>
                <a:latin typeface="Aptos"/>
              </a:rPr>
              <a:t>2022115046</a:t>
            </a:r>
            <a:endParaRPr lang="en-US" sz="1800" b="0" strike="noStrike" spc="-1">
              <a:solidFill>
                <a:srgbClr val="000000"/>
              </a:solidFill>
              <a:latin typeface="Arial"/>
            </a:endParaRPr>
          </a:p>
          <a:p>
            <a:pPr algn="r" defTabSz="914400">
              <a:lnSpc>
                <a:spcPct val="120000"/>
              </a:lnSpc>
              <a:spcBef>
                <a:spcPts val="1001"/>
              </a:spcBef>
              <a:tabLst>
                <a:tab pos="0" algn="l"/>
              </a:tabLst>
            </a:pPr>
            <a:r>
              <a:rPr lang="en-US" sz="1800" b="0" strike="noStrike" cap="all" spc="-1">
                <a:solidFill>
                  <a:schemeClr val="dk1"/>
                </a:solidFill>
                <a:latin typeface="Aptos"/>
              </a:rPr>
              <a:t>Guided by:</a:t>
            </a:r>
            <a:endParaRPr lang="en-US" sz="1800" b="0" strike="noStrike" spc="-1">
              <a:solidFill>
                <a:srgbClr val="000000"/>
              </a:solidFill>
              <a:latin typeface="Arial"/>
            </a:endParaRPr>
          </a:p>
          <a:p>
            <a:pPr algn="r" defTabSz="914400">
              <a:lnSpc>
                <a:spcPct val="120000"/>
              </a:lnSpc>
              <a:spcBef>
                <a:spcPts val="1001"/>
              </a:spcBef>
              <a:tabLst>
                <a:tab pos="0" algn="l"/>
              </a:tabLst>
            </a:pPr>
            <a:r>
              <a:rPr lang="en-US" sz="1800" b="1" strike="noStrike" cap="all" spc="-1">
                <a:solidFill>
                  <a:schemeClr val="dk1"/>
                </a:solidFill>
                <a:latin typeface="Aptos"/>
              </a:rPr>
              <a:t>Dr. K. Vidya</a:t>
            </a:r>
            <a:endParaRPr lang="en-US" sz="1800" b="0" strike="noStrike" spc="-1">
              <a:solidFill>
                <a:srgbClr val="000000"/>
              </a:solidFill>
              <a:latin typeface="Arial"/>
            </a:endParaRPr>
          </a:p>
          <a:p>
            <a:pPr algn="r" defTabSz="914400">
              <a:lnSpc>
                <a:spcPct val="120000"/>
              </a:lnSpc>
              <a:spcBef>
                <a:spcPts val="1001"/>
              </a:spcBef>
              <a:tabLst>
                <a:tab pos="0" algn="l"/>
              </a:tabLst>
            </a:pPr>
            <a:r>
              <a:rPr lang="en-US" sz="1800" b="0" strike="noStrike" cap="all" spc="-1">
                <a:solidFill>
                  <a:schemeClr val="dk1"/>
                </a:solidFill>
                <a:latin typeface="Aptos"/>
                <a:ea typeface="Aptos"/>
              </a:rPr>
              <a:t>Associate Professor</a:t>
            </a:r>
            <a:endParaRPr lang="en-US" sz="1800" b="0" strike="noStrike" spc="-1">
              <a:solidFill>
                <a:srgbClr val="000000"/>
              </a:solidFill>
              <a:latin typeface="Arial"/>
            </a:endParaRPr>
          </a:p>
          <a:p>
            <a:pPr algn="r" defTabSz="914400">
              <a:lnSpc>
                <a:spcPct val="120000"/>
              </a:lnSpc>
              <a:spcBef>
                <a:spcPts val="1001"/>
              </a:spcBef>
              <a:tabLst>
                <a:tab pos="0" algn="l"/>
              </a:tabLst>
            </a:pPr>
            <a:r>
              <a:rPr lang="en-US" sz="1800" b="0" strike="noStrike" cap="all" spc="-1">
                <a:solidFill>
                  <a:schemeClr val="dk1"/>
                </a:solidFill>
                <a:latin typeface="Aptos"/>
                <a:ea typeface="Aptos"/>
              </a:rPr>
              <a:t>Department of IST</a:t>
            </a:r>
            <a:endParaRPr lang="en-US" sz="1800" b="0" strike="noStrike" spc="-1">
              <a:solidFill>
                <a:srgbClr val="000000"/>
              </a:solidFill>
              <a:latin typeface="Arial"/>
            </a:endParaRPr>
          </a:p>
          <a:p>
            <a:pPr algn="r" defTabSz="914400">
              <a:lnSpc>
                <a:spcPct val="120000"/>
              </a:lnSpc>
              <a:spcBef>
                <a:spcPts val="1001"/>
              </a:spcBef>
              <a:tabLst>
                <a:tab pos="0" algn="l"/>
              </a:tabLst>
            </a:pPr>
            <a:endParaRPr lang="en-US" sz="1800" b="0" strike="noStrike" spc="-1">
              <a:solidFill>
                <a:srgbClr val="000000"/>
              </a:solidFill>
              <a:latin typeface="Arial"/>
            </a:endParaRPr>
          </a:p>
          <a:p>
            <a:pPr algn="r" defTabSz="914400">
              <a:lnSpc>
                <a:spcPct val="120000"/>
              </a:lnSpc>
              <a:spcBef>
                <a:spcPts val="1001"/>
              </a:spcBef>
              <a:tabLst>
                <a:tab pos="0" algn="l"/>
              </a:tabLst>
            </a:pPr>
            <a:endParaRPr lang="en-US" sz="1800" b="0" strike="noStrike" spc="-1">
              <a:solidFill>
                <a:srgbClr val="000000"/>
              </a:solidFill>
              <a:latin typeface="Arial"/>
            </a:endParaRPr>
          </a:p>
          <a:p>
            <a:pPr algn="r" defTabSz="914400">
              <a:lnSpc>
                <a:spcPct val="120000"/>
              </a:lnSpc>
              <a:spcBef>
                <a:spcPts val="1001"/>
              </a:spcBef>
              <a:tabLst>
                <a:tab pos="0" algn="l"/>
              </a:tabLst>
            </a:pPr>
            <a:endParaRPr lang="en-US" sz="1800" b="0" strike="noStrike" spc="-1">
              <a:solidFill>
                <a:srgbClr val="000000"/>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TextBox 3"/>
          <p:cNvSpPr/>
          <p:nvPr/>
        </p:nvSpPr>
        <p:spPr>
          <a:xfrm>
            <a:off x="3048120" y="212760"/>
            <a:ext cx="6095520" cy="759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457200">
              <a:lnSpc>
                <a:spcPct val="100000"/>
              </a:lnSpc>
            </a:pPr>
            <a:r>
              <a:rPr lang="en-US" sz="4400" b="1" strike="noStrike" spc="-1">
                <a:solidFill>
                  <a:schemeClr val="dk1"/>
                </a:solidFill>
                <a:latin typeface="Arial"/>
              </a:rPr>
              <a:t>INTRODUCTION</a:t>
            </a:r>
            <a:endParaRPr lang="en-US" sz="4400" b="0" strike="noStrike" spc="-1">
              <a:solidFill>
                <a:srgbClr val="000000"/>
              </a:solidFill>
              <a:latin typeface="Arial"/>
            </a:endParaRPr>
          </a:p>
        </p:txBody>
      </p:sp>
      <p:sp>
        <p:nvSpPr>
          <p:cNvPr id="74" name="TextBox 1"/>
          <p:cNvSpPr/>
          <p:nvPr/>
        </p:nvSpPr>
        <p:spPr>
          <a:xfrm>
            <a:off x="792720" y="1325520"/>
            <a:ext cx="10819440" cy="4845960"/>
          </a:xfrm>
          <a:prstGeom prst="rect">
            <a:avLst/>
          </a:prstGeom>
          <a:noFill/>
          <a:ln w="0">
            <a:noFill/>
          </a:ln>
        </p:spPr>
        <p:style>
          <a:lnRef idx="0">
            <a:scrgbClr r="0" g="0" b="0"/>
          </a:lnRef>
          <a:fillRef idx="0">
            <a:scrgbClr r="0" g="0" b="0"/>
          </a:fillRef>
          <a:effectRef idx="0">
            <a:scrgbClr r="0" g="0" b="0"/>
          </a:effectRef>
          <a:fontRef idx="minor"/>
        </p:style>
        <p:txBody>
          <a:bodyPr numCol="1" spcCol="0" anchor="t">
            <a:spAutoFit/>
          </a:bodyPr>
          <a:lstStyle/>
          <a:p>
            <a:pPr defTabSz="457200">
              <a:lnSpc>
                <a:spcPct val="100000"/>
              </a:lnSpc>
            </a:pPr>
            <a:r>
              <a:rPr lang="en-US" sz="2400" b="0" strike="noStrike" spc="-1">
                <a:solidFill>
                  <a:schemeClr val="dk1"/>
                </a:solidFill>
                <a:latin typeface="Aptos"/>
              </a:rPr>
              <a:t>Zero-day attacks pose a serious challenge to modern cybersecurity because they exploit unknown vulnerabilities and do not match any existing signatures or labeled attack data, rendering traditional rule-based and supervised detection systems ineffective. This project is based on the idea that any successful attack must eventually deviate from normal system behavior, regardless of how novel or sophisticated it is. </a:t>
            </a:r>
            <a:endParaRPr lang="en-US" sz="2400" b="0" strike="noStrike" spc="-1">
              <a:solidFill>
                <a:srgbClr val="000000"/>
              </a:solidFill>
              <a:latin typeface="Arial"/>
            </a:endParaRPr>
          </a:p>
          <a:p>
            <a:pPr defTabSz="457200">
              <a:lnSpc>
                <a:spcPct val="100000"/>
              </a:lnSpc>
            </a:pPr>
            <a:endParaRPr lang="en-US" sz="2400" b="0" strike="noStrike" spc="-1">
              <a:solidFill>
                <a:srgbClr val="000000"/>
              </a:solidFill>
              <a:latin typeface="Arial"/>
            </a:endParaRPr>
          </a:p>
          <a:p>
            <a:pPr defTabSz="457200">
              <a:lnSpc>
                <a:spcPct val="100000"/>
              </a:lnSpc>
            </a:pPr>
            <a:r>
              <a:rPr lang="en-US" sz="2400" b="0" strike="noStrike" spc="-1">
                <a:solidFill>
                  <a:schemeClr val="dk1"/>
                </a:solidFill>
                <a:latin typeface="Aptos"/>
              </a:rPr>
              <a:t>Instead of attempting to recognize known attacks, the approach focuses on learning normal behavior directly from unlabeled system activity and identifying deviations as potential threats. By adopting a behavior centric and self supervised learning strategy, the project aims to detect previously unseen zero day attacks while remaining adaptive, reliable, and suitable for real world cybersecurity environments.</a:t>
            </a:r>
            <a:endParaRPr lang="en-US" sz="24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TextBox 2"/>
          <p:cNvSpPr/>
          <p:nvPr/>
        </p:nvSpPr>
        <p:spPr>
          <a:xfrm>
            <a:off x="3597480" y="228600"/>
            <a:ext cx="7146720" cy="761400"/>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pPr>
            <a:r>
              <a:rPr lang="en-US" sz="4400" b="1" strike="noStrike" cap="all" spc="-1">
                <a:solidFill>
                  <a:schemeClr val="dk1"/>
                </a:solidFill>
                <a:latin typeface="Tw Cen MT"/>
              </a:rPr>
              <a:t>Problem statement</a:t>
            </a:r>
            <a:endParaRPr lang="en-US" sz="4400" b="0" strike="noStrike" spc="-1">
              <a:solidFill>
                <a:srgbClr val="000000"/>
              </a:solidFill>
              <a:latin typeface="Arial"/>
            </a:endParaRPr>
          </a:p>
        </p:txBody>
      </p:sp>
      <p:sp>
        <p:nvSpPr>
          <p:cNvPr id="78" name="TextBox 4"/>
          <p:cNvSpPr/>
          <p:nvPr/>
        </p:nvSpPr>
        <p:spPr>
          <a:xfrm>
            <a:off x="926640" y="986400"/>
            <a:ext cx="10274760" cy="6328800"/>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defTabSz="914400">
              <a:lnSpc>
                <a:spcPct val="100000"/>
              </a:lnSpc>
              <a:spcBef>
                <a:spcPts val="1191"/>
              </a:spcBef>
              <a:spcAft>
                <a:spcPts val="992"/>
              </a:spcAft>
            </a:pPr>
            <a:r>
              <a:rPr lang="en-US" sz="2000" b="0" strike="noStrike" spc="-1">
                <a:solidFill>
                  <a:schemeClr val="dk1"/>
                </a:solidFill>
                <a:latin typeface="Aptos"/>
              </a:rPr>
              <a:t>Key challenges and requirements for detecting zero-day attacks include:</a:t>
            </a:r>
            <a:endParaRPr lang="en-US" sz="2000" b="0" strike="noStrike" spc="-1">
              <a:solidFill>
                <a:srgbClr val="000000"/>
              </a:solidFill>
              <a:latin typeface="Arial"/>
            </a:endParaRPr>
          </a:p>
          <a:p>
            <a:pPr marL="216000" indent="-216000" defTabSz="914400">
              <a:lnSpc>
                <a:spcPct val="100000"/>
              </a:lnSpc>
              <a:spcBef>
                <a:spcPts val="1191"/>
              </a:spcBef>
              <a:spcAft>
                <a:spcPts val="992"/>
              </a:spcAft>
              <a:buClr>
                <a:srgbClr val="000000"/>
              </a:buClr>
              <a:buFont typeface="Wingdings" charset="2"/>
              <a:buChar char=""/>
            </a:pPr>
            <a:r>
              <a:rPr lang="en-US" sz="2000" b="0" strike="noStrike" spc="-1">
                <a:solidFill>
                  <a:schemeClr val="dk1"/>
                </a:solidFill>
                <a:latin typeface="Aptos"/>
              </a:rPr>
              <a:t>Inadequacy of Traditional Mechanisms: Current systems rely on predefined rules, known signatures, or supervised learning from historical data, which cannot identify previously unknown vulnerabilities.</a:t>
            </a:r>
            <a:endParaRPr lang="en-US" sz="2000" b="0" strike="noStrike" spc="-1">
              <a:solidFill>
                <a:srgbClr val="000000"/>
              </a:solidFill>
              <a:latin typeface="Arial"/>
            </a:endParaRPr>
          </a:p>
          <a:p>
            <a:pPr marL="216000" indent="-216000" defTabSz="914400">
              <a:lnSpc>
                <a:spcPct val="100000"/>
              </a:lnSpc>
              <a:spcBef>
                <a:spcPts val="1191"/>
              </a:spcBef>
              <a:spcAft>
                <a:spcPts val="992"/>
              </a:spcAft>
              <a:buClr>
                <a:srgbClr val="000000"/>
              </a:buClr>
              <a:buFont typeface="Wingdings" charset="2"/>
              <a:buChar char=""/>
            </a:pPr>
            <a:r>
              <a:rPr lang="en-US" sz="2000" b="0" strike="noStrike" spc="-1">
                <a:solidFill>
                  <a:schemeClr val="dk1"/>
                </a:solidFill>
                <a:latin typeface="Aptos"/>
              </a:rPr>
              <a:t>Generalization and Accuracy Issues: Existing approaches fail to recognize unseen threats and often generate high false positive rates in dynamic, real-world environments.</a:t>
            </a:r>
            <a:endParaRPr lang="en-US" sz="2000" b="0" strike="noStrike" spc="-1">
              <a:solidFill>
                <a:srgbClr val="000000"/>
              </a:solidFill>
              <a:latin typeface="Arial"/>
            </a:endParaRPr>
          </a:p>
          <a:p>
            <a:pPr marL="216000" indent="-216000" defTabSz="914400">
              <a:lnSpc>
                <a:spcPct val="100000"/>
              </a:lnSpc>
              <a:spcBef>
                <a:spcPts val="1191"/>
              </a:spcBef>
              <a:spcAft>
                <a:spcPts val="992"/>
              </a:spcAft>
              <a:buClr>
                <a:srgbClr val="000000"/>
              </a:buClr>
              <a:buFont typeface="Wingdings" charset="2"/>
              <a:buChar char=""/>
            </a:pPr>
            <a:r>
              <a:rPr lang="en-US" sz="2000" b="0" strike="noStrike" spc="-1">
                <a:solidFill>
                  <a:schemeClr val="dk1"/>
                </a:solidFill>
                <a:latin typeface="Aptos"/>
              </a:rPr>
              <a:t>Need for Behavioral Modeling: There is a critical requirement for intelligent systems that model normal system behavior to identify malicious deviations rather than relying on prior attack knowledge.</a:t>
            </a:r>
            <a:endParaRPr lang="en-US" sz="2000" b="0" strike="noStrike" spc="-1">
              <a:solidFill>
                <a:srgbClr val="000000"/>
              </a:solidFill>
              <a:latin typeface="Arial"/>
            </a:endParaRPr>
          </a:p>
          <a:p>
            <a:pPr marL="216000" indent="-216000" defTabSz="914400">
              <a:lnSpc>
                <a:spcPct val="100000"/>
              </a:lnSpc>
              <a:spcBef>
                <a:spcPts val="1191"/>
              </a:spcBef>
              <a:spcAft>
                <a:spcPts val="992"/>
              </a:spcAft>
              <a:buClr>
                <a:srgbClr val="000000"/>
              </a:buClr>
              <a:buFont typeface="Wingdings" charset="2"/>
              <a:buChar char=""/>
            </a:pPr>
            <a:r>
              <a:rPr lang="en-US" sz="2000" b="0" strike="noStrike" spc="-1">
                <a:solidFill>
                  <a:schemeClr val="dk1"/>
                </a:solidFill>
                <a:latin typeface="Aptos"/>
              </a:rPr>
              <a:t>Unsupervised and Adaptive Learning: Effective detection requires the capability to learn from unlabeled data and continuously adapt to evolving system dynamics.</a:t>
            </a:r>
            <a:endParaRPr lang="en-US" sz="2000" b="0" strike="noStrike" spc="-1">
              <a:solidFill>
                <a:srgbClr val="000000"/>
              </a:solidFill>
              <a:latin typeface="Arial"/>
            </a:endParaRPr>
          </a:p>
          <a:p>
            <a:pPr marL="216000" indent="-216000" defTabSz="914400">
              <a:lnSpc>
                <a:spcPct val="100000"/>
              </a:lnSpc>
              <a:spcBef>
                <a:spcPts val="1191"/>
              </a:spcBef>
              <a:spcAft>
                <a:spcPts val="992"/>
              </a:spcAft>
              <a:buClr>
                <a:srgbClr val="000000"/>
              </a:buClr>
              <a:buFont typeface="Wingdings" charset="2"/>
              <a:buChar char=""/>
            </a:pPr>
            <a:r>
              <a:rPr lang="en-US" sz="2000" b="0" strike="noStrike" spc="-1">
                <a:solidFill>
                  <a:schemeClr val="dk1"/>
                </a:solidFill>
                <a:latin typeface="Aptos"/>
              </a:rPr>
              <a:t>Detection of Complex Threats: Systems must be able to identify multi-stage attack behaviors while ensuring high reliability and interpretability in their findings.</a:t>
            </a:r>
            <a:endParaRPr lang="en-US" sz="2000" b="0" strike="noStrike" spc="-1">
              <a:solidFill>
                <a:srgbClr val="000000"/>
              </a:solidFill>
              <a:latin typeface="Arial"/>
            </a:endParaRPr>
          </a:p>
          <a:p>
            <a:pPr defTabSz="914400">
              <a:lnSpc>
                <a:spcPct val="100000"/>
              </a:lnSpc>
              <a:spcBef>
                <a:spcPts val="1191"/>
              </a:spcBef>
              <a:spcAft>
                <a:spcPts val="992"/>
              </a:spcAft>
            </a:pPr>
            <a:endParaRPr lang="en-US" sz="20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 name="Table 4"/>
          <p:cNvGraphicFramePr/>
          <p:nvPr/>
        </p:nvGraphicFramePr>
        <p:xfrm>
          <a:off x="231840" y="460800"/>
          <a:ext cx="11601000" cy="5438880"/>
        </p:xfrm>
        <a:graphic>
          <a:graphicData uri="http://schemas.openxmlformats.org/drawingml/2006/table">
            <a:tbl>
              <a:tblPr/>
              <a:tblGrid>
                <a:gridCol w="2320200">
                  <a:extLst>
                    <a:ext uri="{9D8B030D-6E8A-4147-A177-3AD203B41FA5}">
                      <a16:colId xmlns:a16="http://schemas.microsoft.com/office/drawing/2014/main" val="20000"/>
                    </a:ext>
                  </a:extLst>
                </a:gridCol>
                <a:gridCol w="2320200">
                  <a:extLst>
                    <a:ext uri="{9D8B030D-6E8A-4147-A177-3AD203B41FA5}">
                      <a16:colId xmlns:a16="http://schemas.microsoft.com/office/drawing/2014/main" val="20001"/>
                    </a:ext>
                  </a:extLst>
                </a:gridCol>
                <a:gridCol w="2320200">
                  <a:extLst>
                    <a:ext uri="{9D8B030D-6E8A-4147-A177-3AD203B41FA5}">
                      <a16:colId xmlns:a16="http://schemas.microsoft.com/office/drawing/2014/main" val="20002"/>
                    </a:ext>
                  </a:extLst>
                </a:gridCol>
                <a:gridCol w="2320200">
                  <a:extLst>
                    <a:ext uri="{9D8B030D-6E8A-4147-A177-3AD203B41FA5}">
                      <a16:colId xmlns:a16="http://schemas.microsoft.com/office/drawing/2014/main" val="20003"/>
                    </a:ext>
                  </a:extLst>
                </a:gridCol>
                <a:gridCol w="2320200">
                  <a:extLst>
                    <a:ext uri="{9D8B030D-6E8A-4147-A177-3AD203B41FA5}">
                      <a16:colId xmlns:a16="http://schemas.microsoft.com/office/drawing/2014/main" val="20004"/>
                    </a:ext>
                  </a:extLst>
                </a:gridCol>
              </a:tblGrid>
              <a:tr h="584640">
                <a:tc>
                  <a:txBody>
                    <a:bodyPr/>
                    <a:lstStyle/>
                    <a:p>
                      <a:pPr defTabSz="914400">
                        <a:lnSpc>
                          <a:spcPct val="100000"/>
                        </a:lnSpc>
                      </a:pPr>
                      <a:r>
                        <a:rPr lang="en-IN" sz="1400" b="1" strike="noStrike" spc="-1">
                          <a:solidFill>
                            <a:schemeClr val="dk1"/>
                          </a:solidFill>
                          <a:latin typeface="Aptos"/>
                        </a:rPr>
                        <a:t>Paper Title / Publisher / Year</a:t>
                      </a:r>
                      <a:endParaRPr lang="en-US" sz="1400" b="0" strike="noStrike" spc="-1">
                        <a:solidFill>
                          <a:srgbClr val="000000"/>
                        </a:solidFill>
                        <a:latin typeface="Arial"/>
                      </a:endParaRPr>
                    </a:p>
                  </a:txBody>
                  <a:tcPr marL="69840" marR="698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400" b="1" strike="noStrike" spc="-1">
                          <a:solidFill>
                            <a:schemeClr val="dk1"/>
                          </a:solidFill>
                          <a:latin typeface="Aptos"/>
                        </a:rPr>
                        <a:t>Problem Statement</a:t>
                      </a:r>
                      <a:endParaRPr lang="en-US" sz="1400" b="0" strike="noStrike" spc="-1">
                        <a:solidFill>
                          <a:srgbClr val="000000"/>
                        </a:solidFill>
                        <a:latin typeface="Arial"/>
                      </a:endParaRPr>
                    </a:p>
                  </a:txBody>
                  <a:tcPr marL="69840" marR="698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400" b="1" strike="noStrike" spc="-1">
                          <a:solidFill>
                            <a:schemeClr val="dk1"/>
                          </a:solidFill>
                          <a:latin typeface="Aptos"/>
                        </a:rPr>
                        <a:t>Methodology</a:t>
                      </a:r>
                      <a:endParaRPr lang="en-US" sz="1400" b="0" strike="noStrike" spc="-1">
                        <a:solidFill>
                          <a:srgbClr val="000000"/>
                        </a:solidFill>
                        <a:latin typeface="Arial"/>
                      </a:endParaRPr>
                    </a:p>
                  </a:txBody>
                  <a:tcPr marL="69840" marR="698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400" b="1" strike="noStrike" spc="-1">
                          <a:solidFill>
                            <a:schemeClr val="dk1"/>
                          </a:solidFill>
                          <a:latin typeface="Aptos"/>
                        </a:rPr>
                        <a:t>Pros</a:t>
                      </a:r>
                      <a:endParaRPr lang="en-US" sz="1400" b="0" strike="noStrike" spc="-1">
                        <a:solidFill>
                          <a:srgbClr val="000000"/>
                        </a:solidFill>
                        <a:latin typeface="Arial"/>
                      </a:endParaRPr>
                    </a:p>
                  </a:txBody>
                  <a:tcPr marL="69840" marR="698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400" b="1" strike="noStrike" spc="-1">
                          <a:solidFill>
                            <a:schemeClr val="dk1"/>
                          </a:solidFill>
                          <a:latin typeface="Aptos"/>
                        </a:rPr>
                        <a:t>Cons</a:t>
                      </a:r>
                      <a:endParaRPr lang="en-US" sz="1400" b="0" strike="noStrike" spc="-1">
                        <a:solidFill>
                          <a:srgbClr val="000000"/>
                        </a:solidFill>
                        <a:latin typeface="Arial"/>
                      </a:endParaRPr>
                    </a:p>
                  </a:txBody>
                  <a:tcPr marL="69840" marR="698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extLst>
                  <a:ext uri="{0D108BD9-81ED-4DB2-BD59-A6C34878D82A}">
                    <a16:rowId xmlns:a16="http://schemas.microsoft.com/office/drawing/2014/main" val="10000"/>
                  </a:ext>
                </a:extLst>
              </a:tr>
              <a:tr h="4854240">
                <a:tc>
                  <a:txBody>
                    <a:bodyPr/>
                    <a:lstStyle/>
                    <a:p>
                      <a:pPr defTabSz="914400">
                        <a:lnSpc>
                          <a:spcPct val="100000"/>
                        </a:lnSpc>
                      </a:pPr>
                      <a:r>
                        <a:rPr lang="en-US" sz="1400" b="0" strike="noStrike" spc="-1">
                          <a:solidFill>
                            <a:schemeClr val="dk1"/>
                          </a:solidFill>
                          <a:latin typeface="Aptos"/>
                        </a:rPr>
                        <a:t>An Intrusion Detection Model to Detect Zero-Day Attacks in Unseen Data Using Machine Learning, 2025</a:t>
                      </a:r>
                      <a:endParaRPr lang="en-US" sz="1400" b="0" strike="noStrike" spc="-1">
                        <a:solidFill>
                          <a:srgbClr val="000000"/>
                        </a:solidFill>
                        <a:latin typeface="Arial"/>
                      </a:endParaRPr>
                    </a:p>
                  </a:txBody>
                  <a:tcPr marL="69840" marR="698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400" b="0" strike="noStrike" spc="-1">
                          <a:solidFill>
                            <a:schemeClr val="dk1"/>
                          </a:solidFill>
                          <a:latin typeface="Aptos"/>
                        </a:rPr>
                        <a:t>Existing intrusion detection systems struggle to detect zero-day attacks because they rely on known patterns and labeled data, leading to poor generalization on unseen threats.</a:t>
                      </a:r>
                      <a:endParaRPr lang="en-US" sz="1400" b="0" strike="noStrike" spc="-1">
                        <a:solidFill>
                          <a:srgbClr val="000000"/>
                        </a:solidFill>
                        <a:latin typeface="Arial"/>
                      </a:endParaRPr>
                    </a:p>
                  </a:txBody>
                  <a:tcPr marL="69840" marR="698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400" b="0" strike="noStrike" spc="-1">
                          <a:solidFill>
                            <a:schemeClr val="dk1"/>
                          </a:solidFill>
                          <a:latin typeface="Aptos"/>
                        </a:rPr>
                        <a:t>An autoencoder is trained on normal data to perform anomaly detection, and its reconstruction error is combined with Random Forest and XGBoost classifiers to improve detection on unseen data.</a:t>
                      </a:r>
                      <a:endParaRPr lang="en-US" sz="1400" b="0" strike="noStrike" spc="-1">
                        <a:solidFill>
                          <a:srgbClr val="000000"/>
                        </a:solidFill>
                        <a:latin typeface="Arial"/>
                      </a:endParaRPr>
                    </a:p>
                  </a:txBody>
                  <a:tcPr marL="69840" marR="698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400" b="0" strike="noStrike" spc="-1">
                          <a:solidFill>
                            <a:schemeClr val="dk1"/>
                          </a:solidFill>
                          <a:latin typeface="Aptos"/>
                        </a:rPr>
                        <a:t>High accuracy on unseen data, effective anomaly detection, strong performance on benchmark datasets.</a:t>
                      </a:r>
                      <a:endParaRPr lang="en-US" sz="1400" b="0" strike="noStrike" spc="-1">
                        <a:solidFill>
                          <a:srgbClr val="000000"/>
                        </a:solidFill>
                        <a:latin typeface="Arial"/>
                      </a:endParaRPr>
                    </a:p>
                  </a:txBody>
                  <a:tcPr marL="69840" marR="698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400" b="0" strike="noStrike" spc="-1">
                          <a:solidFill>
                            <a:schemeClr val="dk1"/>
                          </a:solidFill>
                          <a:latin typeface="Aptos"/>
                        </a:rPr>
                        <a:t>Relies on handcrafted features, limited behavioral relationship modeling, high computational cost, lacks continual learning capability. </a:t>
                      </a:r>
                      <a:endParaRPr lang="en-US" sz="1400" b="0" strike="noStrike" spc="-1">
                        <a:solidFill>
                          <a:srgbClr val="000000"/>
                        </a:solidFill>
                        <a:latin typeface="Arial"/>
                      </a:endParaRPr>
                    </a:p>
                  </a:txBody>
                  <a:tcPr marL="69840" marR="698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 name="Table 3"/>
          <p:cNvGraphicFramePr/>
          <p:nvPr/>
        </p:nvGraphicFramePr>
        <p:xfrm>
          <a:off x="415800" y="839160"/>
          <a:ext cx="11471400" cy="5129640"/>
        </p:xfrm>
        <a:graphic>
          <a:graphicData uri="http://schemas.openxmlformats.org/drawingml/2006/table">
            <a:tbl>
              <a:tblPr/>
              <a:tblGrid>
                <a:gridCol w="2294280">
                  <a:extLst>
                    <a:ext uri="{9D8B030D-6E8A-4147-A177-3AD203B41FA5}">
                      <a16:colId xmlns:a16="http://schemas.microsoft.com/office/drawing/2014/main" val="20000"/>
                    </a:ext>
                  </a:extLst>
                </a:gridCol>
                <a:gridCol w="2294280">
                  <a:extLst>
                    <a:ext uri="{9D8B030D-6E8A-4147-A177-3AD203B41FA5}">
                      <a16:colId xmlns:a16="http://schemas.microsoft.com/office/drawing/2014/main" val="20001"/>
                    </a:ext>
                  </a:extLst>
                </a:gridCol>
                <a:gridCol w="2294280">
                  <a:extLst>
                    <a:ext uri="{9D8B030D-6E8A-4147-A177-3AD203B41FA5}">
                      <a16:colId xmlns:a16="http://schemas.microsoft.com/office/drawing/2014/main" val="20002"/>
                    </a:ext>
                  </a:extLst>
                </a:gridCol>
                <a:gridCol w="2294280">
                  <a:extLst>
                    <a:ext uri="{9D8B030D-6E8A-4147-A177-3AD203B41FA5}">
                      <a16:colId xmlns:a16="http://schemas.microsoft.com/office/drawing/2014/main" val="20003"/>
                    </a:ext>
                  </a:extLst>
                </a:gridCol>
                <a:gridCol w="2294280">
                  <a:extLst>
                    <a:ext uri="{9D8B030D-6E8A-4147-A177-3AD203B41FA5}">
                      <a16:colId xmlns:a16="http://schemas.microsoft.com/office/drawing/2014/main" val="20004"/>
                    </a:ext>
                  </a:extLst>
                </a:gridCol>
              </a:tblGrid>
              <a:tr h="641160">
                <a:tc>
                  <a:txBody>
                    <a:bodyPr/>
                    <a:lstStyle/>
                    <a:p>
                      <a:pPr defTabSz="914400">
                        <a:lnSpc>
                          <a:spcPct val="100000"/>
                        </a:lnSpc>
                      </a:pPr>
                      <a:r>
                        <a:rPr lang="en-IN" sz="1500" b="1" strike="noStrike" spc="-1">
                          <a:solidFill>
                            <a:schemeClr val="dk1"/>
                          </a:solidFill>
                          <a:latin typeface="Aptos"/>
                        </a:rPr>
                        <a:t>Paper Title / Publisher / Year</a:t>
                      </a:r>
                      <a:endParaRPr lang="en-US" sz="1500" b="0" strike="noStrike" spc="-1">
                        <a:solidFill>
                          <a:srgbClr val="000000"/>
                        </a:solidFill>
                        <a:latin typeface="Arial"/>
                      </a:endParaRPr>
                    </a:p>
                  </a:txBody>
                  <a:tcPr marL="77400" marR="774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500" b="1" strike="noStrike" spc="-1">
                          <a:solidFill>
                            <a:schemeClr val="dk1"/>
                          </a:solidFill>
                          <a:latin typeface="Aptos"/>
                        </a:rPr>
                        <a:t>Problem Statement</a:t>
                      </a:r>
                      <a:endParaRPr lang="en-US" sz="1500" b="0" strike="noStrike" spc="-1">
                        <a:solidFill>
                          <a:srgbClr val="000000"/>
                        </a:solidFill>
                        <a:latin typeface="Arial"/>
                      </a:endParaRPr>
                    </a:p>
                  </a:txBody>
                  <a:tcPr marL="77400" marR="774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500" b="1" strike="noStrike" spc="-1">
                          <a:solidFill>
                            <a:schemeClr val="dk1"/>
                          </a:solidFill>
                          <a:latin typeface="Aptos"/>
                        </a:rPr>
                        <a:t>Methodology</a:t>
                      </a:r>
                      <a:endParaRPr lang="en-US" sz="1500" b="0" strike="noStrike" spc="-1">
                        <a:solidFill>
                          <a:srgbClr val="000000"/>
                        </a:solidFill>
                        <a:latin typeface="Arial"/>
                      </a:endParaRPr>
                    </a:p>
                  </a:txBody>
                  <a:tcPr marL="77400" marR="774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500" b="1" strike="noStrike" spc="-1">
                          <a:solidFill>
                            <a:schemeClr val="dk1"/>
                          </a:solidFill>
                          <a:latin typeface="Aptos"/>
                        </a:rPr>
                        <a:t>Pros</a:t>
                      </a:r>
                      <a:endParaRPr lang="en-US" sz="1500" b="0" strike="noStrike" spc="-1">
                        <a:solidFill>
                          <a:srgbClr val="000000"/>
                        </a:solidFill>
                        <a:latin typeface="Arial"/>
                      </a:endParaRPr>
                    </a:p>
                  </a:txBody>
                  <a:tcPr marL="77400" marR="774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500" b="1" strike="noStrike" spc="-1">
                          <a:solidFill>
                            <a:schemeClr val="dk1"/>
                          </a:solidFill>
                          <a:latin typeface="Aptos"/>
                        </a:rPr>
                        <a:t>Cons</a:t>
                      </a:r>
                      <a:endParaRPr lang="en-US" sz="1500" b="0" strike="noStrike" spc="-1">
                        <a:solidFill>
                          <a:srgbClr val="000000"/>
                        </a:solidFill>
                        <a:latin typeface="Arial"/>
                      </a:endParaRPr>
                    </a:p>
                  </a:txBody>
                  <a:tcPr marL="77400" marR="774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extLst>
                  <a:ext uri="{0D108BD9-81ED-4DB2-BD59-A6C34878D82A}">
                    <a16:rowId xmlns:a16="http://schemas.microsoft.com/office/drawing/2014/main" val="10000"/>
                  </a:ext>
                </a:extLst>
              </a:tr>
              <a:tr h="4488480">
                <a:tc>
                  <a:txBody>
                    <a:bodyPr/>
                    <a:lstStyle/>
                    <a:p>
                      <a:pPr defTabSz="914400">
                        <a:lnSpc>
                          <a:spcPct val="100000"/>
                        </a:lnSpc>
                      </a:pPr>
                      <a:r>
                        <a:rPr lang="en-US" sz="1600" b="1" strike="noStrike" spc="-1">
                          <a:solidFill>
                            <a:schemeClr val="dk1"/>
                          </a:solidFill>
                          <a:latin typeface="Aptos"/>
                        </a:rPr>
                        <a:t>Analysis of Continual Learning Models for Intrusion Detection Systems, 2025</a:t>
                      </a:r>
                      <a:br>
                        <a:rPr sz="1600"/>
                      </a:br>
                      <a:r>
                        <a:rPr lang="en-US" sz="1600" b="1" strike="noStrike" spc="-1">
                          <a:solidFill>
                            <a:schemeClr val="dk1"/>
                          </a:solidFill>
                          <a:latin typeface="Aptos"/>
                        </a:rPr>
                        <a:t>Publisher:</a:t>
                      </a:r>
                      <a:r>
                        <a:rPr lang="en-US" sz="1600" b="0" strike="noStrike" spc="-1">
                          <a:solidFill>
                            <a:schemeClr val="dk1"/>
                          </a:solidFill>
                          <a:latin typeface="Aptos"/>
                        </a:rPr>
                        <a:t> IEEE Access</a:t>
                      </a:r>
                      <a:endParaRPr lang="en-US" sz="1600" b="0" strike="noStrike" spc="-1">
                        <a:solidFill>
                          <a:srgbClr val="000000"/>
                        </a:solidFill>
                        <a:latin typeface="Arial"/>
                      </a:endParaRPr>
                    </a:p>
                  </a:txBody>
                  <a:tcPr marL="77400" marR="774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600" b="0" strike="noStrike" spc="-1">
                          <a:solidFill>
                            <a:schemeClr val="dk1"/>
                          </a:solidFill>
                          <a:latin typeface="Aptos"/>
                        </a:rPr>
                        <a:t>Deep learning based intrusion detection systems suffer from catastrophic forgetting when trained on evolving network data, making them ineffective against zero day attacks and covariate shifts in real world environments.</a:t>
                      </a:r>
                      <a:endParaRPr lang="en-US" sz="1600" b="0" strike="noStrike" spc="-1">
                        <a:solidFill>
                          <a:srgbClr val="000000"/>
                        </a:solidFill>
                        <a:latin typeface="Arial"/>
                      </a:endParaRPr>
                    </a:p>
                  </a:txBody>
                  <a:tcPr marL="77400" marR="774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600" b="0" strike="noStrike" spc="-1">
                          <a:solidFill>
                            <a:schemeClr val="dk1"/>
                          </a:solidFill>
                          <a:latin typeface="Aptos"/>
                        </a:rPr>
                        <a:t>The paper proposes an eight stage framework to detect data distribution drift and evaluates multiple continual learning strategies such as learning without forgetting, experience replay, and dark experience replay on NSL KDD and CICIDS 2017 datasets.</a:t>
                      </a:r>
                      <a:endParaRPr lang="en-US" sz="1600" b="0" strike="noStrike" spc="-1">
                        <a:solidFill>
                          <a:srgbClr val="000000"/>
                        </a:solidFill>
                        <a:latin typeface="Arial"/>
                      </a:endParaRPr>
                    </a:p>
                  </a:txBody>
                  <a:tcPr marL="77400" marR="774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600" b="0" strike="noStrike" spc="-1">
                          <a:solidFill>
                            <a:schemeClr val="dk1"/>
                          </a:solidFill>
                          <a:latin typeface="Aptos"/>
                        </a:rPr>
                        <a:t>Addresses catastrophic forgetting, supports incremental learning, evaluates online deployment scenarios, strong experimental validation on benchmark datasets.</a:t>
                      </a:r>
                      <a:endParaRPr lang="en-US" sz="1600" b="0" strike="noStrike" spc="-1">
                        <a:solidFill>
                          <a:srgbClr val="000000"/>
                        </a:solidFill>
                        <a:latin typeface="Arial"/>
                      </a:endParaRPr>
                    </a:p>
                  </a:txBody>
                  <a:tcPr marL="77400" marR="774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600" b="0" strike="noStrike" spc="-1">
                          <a:solidFill>
                            <a:schemeClr val="dk1"/>
                          </a:solidFill>
                          <a:latin typeface="Aptos"/>
                        </a:rPr>
                        <a:t>Relies on tabular feature based data, does not model behavioral relationships explicitly, limited focus on graph based representations or self supervised learning.</a:t>
                      </a:r>
                      <a:endParaRPr lang="en-US" sz="1600" b="0" strike="noStrike" spc="-1">
                        <a:solidFill>
                          <a:srgbClr val="000000"/>
                        </a:solidFill>
                        <a:latin typeface="Arial"/>
                      </a:endParaRPr>
                    </a:p>
                  </a:txBody>
                  <a:tcPr marL="77400" marR="774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 name="Table 3"/>
          <p:cNvGraphicFramePr/>
          <p:nvPr/>
        </p:nvGraphicFramePr>
        <p:xfrm>
          <a:off x="335520" y="689400"/>
          <a:ext cx="11520000" cy="5479200"/>
        </p:xfrm>
        <a:graphic>
          <a:graphicData uri="http://schemas.openxmlformats.org/drawingml/2006/table">
            <a:tbl>
              <a:tblPr/>
              <a:tblGrid>
                <a:gridCol w="2304000">
                  <a:extLst>
                    <a:ext uri="{9D8B030D-6E8A-4147-A177-3AD203B41FA5}">
                      <a16:colId xmlns:a16="http://schemas.microsoft.com/office/drawing/2014/main" val="20000"/>
                    </a:ext>
                  </a:extLst>
                </a:gridCol>
                <a:gridCol w="2304000">
                  <a:extLst>
                    <a:ext uri="{9D8B030D-6E8A-4147-A177-3AD203B41FA5}">
                      <a16:colId xmlns:a16="http://schemas.microsoft.com/office/drawing/2014/main" val="20001"/>
                    </a:ext>
                  </a:extLst>
                </a:gridCol>
                <a:gridCol w="2304000">
                  <a:extLst>
                    <a:ext uri="{9D8B030D-6E8A-4147-A177-3AD203B41FA5}">
                      <a16:colId xmlns:a16="http://schemas.microsoft.com/office/drawing/2014/main" val="20002"/>
                    </a:ext>
                  </a:extLst>
                </a:gridCol>
                <a:gridCol w="2304000">
                  <a:extLst>
                    <a:ext uri="{9D8B030D-6E8A-4147-A177-3AD203B41FA5}">
                      <a16:colId xmlns:a16="http://schemas.microsoft.com/office/drawing/2014/main" val="20003"/>
                    </a:ext>
                  </a:extLst>
                </a:gridCol>
                <a:gridCol w="2304000">
                  <a:extLst>
                    <a:ext uri="{9D8B030D-6E8A-4147-A177-3AD203B41FA5}">
                      <a16:colId xmlns:a16="http://schemas.microsoft.com/office/drawing/2014/main" val="20004"/>
                    </a:ext>
                  </a:extLst>
                </a:gridCol>
              </a:tblGrid>
              <a:tr h="590040">
                <a:tc>
                  <a:txBody>
                    <a:bodyPr/>
                    <a:lstStyle/>
                    <a:p>
                      <a:pPr defTabSz="914400">
                        <a:lnSpc>
                          <a:spcPct val="100000"/>
                        </a:lnSpc>
                      </a:pPr>
                      <a:r>
                        <a:rPr lang="en-IN" sz="1300" b="1" strike="noStrike" spc="-1">
                          <a:solidFill>
                            <a:schemeClr val="dk1"/>
                          </a:solidFill>
                          <a:latin typeface="Aptos"/>
                        </a:rPr>
                        <a:t>Paper Title / Publisher / Year</a:t>
                      </a:r>
                      <a:endParaRPr lang="en-US" sz="13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300" b="1" strike="noStrike" spc="-1">
                          <a:solidFill>
                            <a:schemeClr val="dk1"/>
                          </a:solidFill>
                          <a:latin typeface="Aptos"/>
                        </a:rPr>
                        <a:t>Problem Statement</a:t>
                      </a:r>
                      <a:endParaRPr lang="en-US" sz="13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300" b="1" strike="noStrike" spc="-1">
                          <a:solidFill>
                            <a:schemeClr val="dk1"/>
                          </a:solidFill>
                          <a:latin typeface="Aptos"/>
                        </a:rPr>
                        <a:t>Methodology</a:t>
                      </a:r>
                      <a:endParaRPr lang="en-US" sz="13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300" b="1" strike="noStrike" spc="-1">
                          <a:solidFill>
                            <a:schemeClr val="dk1"/>
                          </a:solidFill>
                          <a:latin typeface="Aptos"/>
                        </a:rPr>
                        <a:t>Pros</a:t>
                      </a:r>
                      <a:endParaRPr lang="en-US" sz="13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300" b="1" strike="noStrike" spc="-1">
                          <a:solidFill>
                            <a:schemeClr val="dk1"/>
                          </a:solidFill>
                          <a:latin typeface="Aptos"/>
                        </a:rPr>
                        <a:t>Cons</a:t>
                      </a:r>
                      <a:endParaRPr lang="en-US" sz="13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extLst>
                  <a:ext uri="{0D108BD9-81ED-4DB2-BD59-A6C34878D82A}">
                    <a16:rowId xmlns:a16="http://schemas.microsoft.com/office/drawing/2014/main" val="10000"/>
                  </a:ext>
                </a:extLst>
              </a:tr>
              <a:tr h="4889160">
                <a:tc>
                  <a:txBody>
                    <a:bodyPr/>
                    <a:lstStyle/>
                    <a:p>
                      <a:pPr defTabSz="914400">
                        <a:lnSpc>
                          <a:spcPct val="100000"/>
                        </a:lnSpc>
                      </a:pPr>
                      <a:r>
                        <a:rPr lang="en-US" sz="1400" b="1" strike="noStrike" spc="-1">
                          <a:solidFill>
                            <a:schemeClr val="dk1"/>
                          </a:solidFill>
                          <a:latin typeface="Aptos"/>
                        </a:rPr>
                        <a:t>Continual Learning for Intrusion Detection Under Evolving Network Threats, 2025</a:t>
                      </a:r>
                      <a:br>
                        <a:rPr sz="1400"/>
                      </a:br>
                      <a:r>
                        <a:rPr lang="en-US" sz="1400" b="1" strike="noStrike" spc="-1">
                          <a:solidFill>
                            <a:schemeClr val="dk1"/>
                          </a:solidFill>
                          <a:latin typeface="Aptos"/>
                        </a:rPr>
                        <a:t>Publisher:</a:t>
                      </a:r>
                      <a:r>
                        <a:rPr lang="en-US" sz="1400" b="0" strike="noStrike" spc="-1">
                          <a:solidFill>
                            <a:schemeClr val="dk1"/>
                          </a:solidFill>
                          <a:latin typeface="Aptos"/>
                        </a:rPr>
                        <a:t> MDPI, </a:t>
                      </a:r>
                      <a:r>
                        <a:rPr lang="en-US" sz="1400" b="0" i="1" strike="noStrike" spc="-1">
                          <a:solidFill>
                            <a:schemeClr val="dk1"/>
                          </a:solidFill>
                          <a:latin typeface="Aptos"/>
                        </a:rPr>
                        <a:t>Future Internet</a:t>
                      </a:r>
                      <a:endParaRPr lang="en-US" sz="14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400" b="0" strike="noStrike" spc="-1">
                          <a:solidFill>
                            <a:schemeClr val="dk1"/>
                          </a:solidFill>
                          <a:latin typeface="Aptos"/>
                        </a:rPr>
                        <a:t>Traditional intrusion detection systems fail in real world environments due to catastrophic forgetting, scarcity of labeled data, and severe class imbalance as new attack types continuously emerge. Static models degrade over time and struggle to retain knowledge of previously seen threats while learning new ones.</a:t>
                      </a:r>
                      <a:endParaRPr lang="en-US" sz="14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400" b="0" strike="noStrike" spc="-1">
                          <a:solidFill>
                            <a:schemeClr val="dk1"/>
                          </a:solidFill>
                          <a:latin typeface="Aptos"/>
                        </a:rPr>
                        <a:t>The paper proposes a semi supervised continual learning framework that integrates dynamic memory selection using clustering, multi level knowledge distillation across logits, attention, and feature spaces, and meta learning based dynamic class reweighting to adapt to evolving and imbalanced network traffic distributions.</a:t>
                      </a:r>
                      <a:endParaRPr lang="en-US" sz="14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400" b="0" strike="noStrike" spc="-1">
                          <a:solidFill>
                            <a:schemeClr val="dk1"/>
                          </a:solidFill>
                          <a:latin typeface="Aptos"/>
                        </a:rPr>
                        <a:t>Effectively mitigates catastrophic forgetting, supports long term deployment, leverages unlabeled data, handles class imbalance well, and demonstrates strong performance on real world intrusion datasets</a:t>
                      </a:r>
                      <a:endParaRPr lang="en-US" sz="14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400" b="0" strike="noStrike" spc="-1">
                          <a:solidFill>
                            <a:schemeClr val="dk1"/>
                          </a:solidFill>
                          <a:latin typeface="Aptos"/>
                        </a:rPr>
                        <a:t>Relies on tabular traffic features, does not explicitly model system level behavioral relationships, limited focus on behavior graphs or interaction based representations, and focuses more on network traffic than host level behavior.</a:t>
                      </a:r>
                      <a:r>
                        <a:rPr lang="en-US" sz="1300" b="0" strike="noStrike" spc="-1">
                          <a:solidFill>
                            <a:schemeClr val="dk1"/>
                          </a:solidFill>
                          <a:latin typeface="Aptos"/>
                        </a:rPr>
                        <a:t>.</a:t>
                      </a:r>
                      <a:endParaRPr lang="en-US" sz="13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TextBox 1"/>
          <p:cNvSpPr/>
          <p:nvPr/>
        </p:nvSpPr>
        <p:spPr>
          <a:xfrm>
            <a:off x="1127520" y="131400"/>
            <a:ext cx="10727280" cy="367920"/>
          </a:xfrm>
          <a:prstGeom prst="rect">
            <a:avLst/>
          </a:prstGeom>
          <a:noFill/>
          <a:ln w="0">
            <a:noFill/>
          </a:ln>
        </p:spPr>
        <p:style>
          <a:lnRef idx="0">
            <a:scrgbClr r="0" g="0" b="0"/>
          </a:lnRef>
          <a:fillRef idx="0">
            <a:scrgbClr r="0" g="0" b="0"/>
          </a:fillRef>
          <a:effectRef idx="0">
            <a:scrgbClr r="0" g="0" b="0"/>
          </a:effectRef>
          <a:fontRef idx="minor"/>
        </p:style>
        <p:txBody>
          <a:bodyPr numCol="1" spcCol="0" anchor="t">
            <a:spAutoFit/>
          </a:bodyPr>
          <a:lstStyle/>
          <a:p>
            <a:pPr defTabSz="457200">
              <a:lnSpc>
                <a:spcPct val="100000"/>
              </a:lnSpc>
            </a:pPr>
            <a:endParaRPr lang="en-US" sz="1800" b="0" strike="noStrike" spc="-1">
              <a:solidFill>
                <a:schemeClr val="dk1"/>
              </a:solidFill>
              <a:latin typeface="Aptos Display"/>
            </a:endParaRPr>
          </a:p>
        </p:txBody>
      </p:sp>
      <p:graphicFrame>
        <p:nvGraphicFramePr>
          <p:cNvPr id="83" name="Table 3"/>
          <p:cNvGraphicFramePr/>
          <p:nvPr/>
        </p:nvGraphicFramePr>
        <p:xfrm>
          <a:off x="363600" y="693360"/>
          <a:ext cx="11491200" cy="5685120"/>
        </p:xfrm>
        <a:graphic>
          <a:graphicData uri="http://schemas.openxmlformats.org/drawingml/2006/table">
            <a:tbl>
              <a:tblPr/>
              <a:tblGrid>
                <a:gridCol w="2298240">
                  <a:extLst>
                    <a:ext uri="{9D8B030D-6E8A-4147-A177-3AD203B41FA5}">
                      <a16:colId xmlns:a16="http://schemas.microsoft.com/office/drawing/2014/main" val="20000"/>
                    </a:ext>
                  </a:extLst>
                </a:gridCol>
                <a:gridCol w="2298240">
                  <a:extLst>
                    <a:ext uri="{9D8B030D-6E8A-4147-A177-3AD203B41FA5}">
                      <a16:colId xmlns:a16="http://schemas.microsoft.com/office/drawing/2014/main" val="20001"/>
                    </a:ext>
                  </a:extLst>
                </a:gridCol>
                <a:gridCol w="2298240">
                  <a:extLst>
                    <a:ext uri="{9D8B030D-6E8A-4147-A177-3AD203B41FA5}">
                      <a16:colId xmlns:a16="http://schemas.microsoft.com/office/drawing/2014/main" val="20002"/>
                    </a:ext>
                  </a:extLst>
                </a:gridCol>
                <a:gridCol w="2298240">
                  <a:extLst>
                    <a:ext uri="{9D8B030D-6E8A-4147-A177-3AD203B41FA5}">
                      <a16:colId xmlns:a16="http://schemas.microsoft.com/office/drawing/2014/main" val="20003"/>
                    </a:ext>
                  </a:extLst>
                </a:gridCol>
                <a:gridCol w="2298240">
                  <a:extLst>
                    <a:ext uri="{9D8B030D-6E8A-4147-A177-3AD203B41FA5}">
                      <a16:colId xmlns:a16="http://schemas.microsoft.com/office/drawing/2014/main" val="20004"/>
                    </a:ext>
                  </a:extLst>
                </a:gridCol>
              </a:tblGrid>
              <a:tr h="612000">
                <a:tc>
                  <a:txBody>
                    <a:bodyPr/>
                    <a:lstStyle/>
                    <a:p>
                      <a:pPr defTabSz="914400">
                        <a:lnSpc>
                          <a:spcPct val="100000"/>
                        </a:lnSpc>
                      </a:pPr>
                      <a:r>
                        <a:rPr lang="en-IN" sz="1300" b="1" strike="noStrike" spc="-1">
                          <a:solidFill>
                            <a:schemeClr val="dk1"/>
                          </a:solidFill>
                          <a:latin typeface="Aptos"/>
                        </a:rPr>
                        <a:t>Paper Title / Publisher / Year</a:t>
                      </a:r>
                      <a:endParaRPr lang="en-US" sz="13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300" b="1" strike="noStrike" spc="-1">
                          <a:solidFill>
                            <a:schemeClr val="dk1"/>
                          </a:solidFill>
                          <a:latin typeface="Aptos"/>
                        </a:rPr>
                        <a:t>Problem Statement</a:t>
                      </a:r>
                      <a:endParaRPr lang="en-US" sz="13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300" b="1" strike="noStrike" spc="-1">
                          <a:solidFill>
                            <a:schemeClr val="dk1"/>
                          </a:solidFill>
                          <a:latin typeface="Aptos"/>
                        </a:rPr>
                        <a:t>Methodology</a:t>
                      </a:r>
                      <a:endParaRPr lang="en-US" sz="13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300" b="1" strike="noStrike" spc="-1">
                          <a:solidFill>
                            <a:schemeClr val="dk1"/>
                          </a:solidFill>
                          <a:latin typeface="Aptos"/>
                        </a:rPr>
                        <a:t>Pros</a:t>
                      </a:r>
                      <a:endParaRPr lang="en-US" sz="13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IN" sz="1300" b="1" strike="noStrike" spc="-1">
                          <a:solidFill>
                            <a:schemeClr val="dk1"/>
                          </a:solidFill>
                          <a:latin typeface="Aptos"/>
                        </a:rPr>
                        <a:t>Cons</a:t>
                      </a:r>
                      <a:endParaRPr lang="en-US" sz="13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extLst>
                  <a:ext uri="{0D108BD9-81ED-4DB2-BD59-A6C34878D82A}">
                    <a16:rowId xmlns:a16="http://schemas.microsoft.com/office/drawing/2014/main" val="10000"/>
                  </a:ext>
                </a:extLst>
              </a:tr>
              <a:tr h="5073120">
                <a:tc>
                  <a:txBody>
                    <a:bodyPr/>
                    <a:lstStyle/>
                    <a:p>
                      <a:pPr defTabSz="914400">
                        <a:lnSpc>
                          <a:spcPct val="100000"/>
                        </a:lnSpc>
                      </a:pPr>
                      <a:r>
                        <a:rPr lang="en-US" sz="1400" b="1" strike="noStrike" spc="-1">
                          <a:solidFill>
                            <a:schemeClr val="dk1"/>
                          </a:solidFill>
                          <a:latin typeface="Aptos"/>
                        </a:rPr>
                        <a:t>Enhancing Cybersecurity: Zero-Day Attack Detection in Network Traffic with Deep Learning Model, 2025</a:t>
                      </a:r>
                      <a:br>
                        <a:rPr sz="1400"/>
                      </a:br>
                      <a:r>
                        <a:rPr lang="en-US" sz="1400" b="1" strike="noStrike" spc="-1">
                          <a:solidFill>
                            <a:schemeClr val="dk1"/>
                          </a:solidFill>
                          <a:latin typeface="Aptos"/>
                        </a:rPr>
                        <a:t>Publisher:</a:t>
                      </a:r>
                      <a:r>
                        <a:rPr lang="en-US" sz="1400" b="0" strike="noStrike" spc="-1">
                          <a:solidFill>
                            <a:schemeClr val="dk1"/>
                          </a:solidFill>
                          <a:latin typeface="Aptos"/>
                        </a:rPr>
                        <a:t> Asian Journal of Research in Computer Science</a:t>
                      </a:r>
                      <a:endParaRPr lang="en-US" sz="14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400" b="0" strike="noStrike" spc="-1">
                          <a:solidFill>
                            <a:schemeClr val="dk1"/>
                          </a:solidFill>
                          <a:latin typeface="Aptos"/>
                        </a:rPr>
                        <a:t>Signature-based intrusion detection systems fail to identify zero-day attacks because such attacks exploit previously unknown vulnerabilities and exhibit unseen behavior in network traffic. Existing machine learning approaches struggle to generalize effectively to these unknown threats.</a:t>
                      </a:r>
                      <a:endParaRPr lang="en-US" sz="14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400" b="0" strike="noStrike" spc="-1">
                          <a:solidFill>
                            <a:schemeClr val="dk1"/>
                          </a:solidFill>
                          <a:latin typeface="Aptos"/>
                        </a:rPr>
                        <a:t>The paper proposes a deep learning based zero-day detection framework using a Convolutional Neural Network trained on the UNSW-NB15 dataset. The approach includes data preprocessing, normalization, one-hot encoding, class balancing using SMOTE, feature selection using the VFS algorithm, and CNN-based classification of network traffic.</a:t>
                      </a:r>
                      <a:endParaRPr lang="en-US" sz="14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400" b="0" strike="noStrike" spc="-1">
                          <a:solidFill>
                            <a:schemeClr val="dk1"/>
                          </a:solidFill>
                          <a:latin typeface="Aptos"/>
                        </a:rPr>
                        <a:t>High detection accuracy for zero-day attacks, strong performance on real-world benchmark datasets, effective feature selection and class balancing, and superior results compared to traditional ML models such as SVM and Random Forest.</a:t>
                      </a:r>
                      <a:endParaRPr lang="en-US" sz="14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tc>
                  <a:txBody>
                    <a:bodyPr/>
                    <a:lstStyle/>
                    <a:p>
                      <a:pPr defTabSz="914400">
                        <a:lnSpc>
                          <a:spcPct val="100000"/>
                        </a:lnSpc>
                      </a:pPr>
                      <a:r>
                        <a:rPr lang="en-US" sz="1400" b="0" strike="noStrike" spc="-1">
                          <a:solidFill>
                            <a:schemeClr val="dk1"/>
                          </a:solidFill>
                          <a:latin typeface="Aptos"/>
                        </a:rPr>
                        <a:t>Relies on supervised learning with labeled attack data, limited ability to detect completely unseen attack behaviors, operates on flat network traffic features without explicit behavioral or relational modeling, and lacks continual learning or long-term adaptability.</a:t>
                      </a:r>
                      <a:endParaRPr lang="en-US" sz="1400" b="0" strike="noStrike" spc="-1">
                        <a:solidFill>
                          <a:srgbClr val="000000"/>
                        </a:solidFill>
                        <a:latin typeface="Arial"/>
                      </a:endParaRPr>
                    </a:p>
                  </a:txBody>
                  <a:tcPr marL="66600" marR="6660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dk1">
                        <a:tint val="20000"/>
                      </a:scheme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Box 1"/>
          <p:cNvSpPr/>
          <p:nvPr/>
        </p:nvSpPr>
        <p:spPr>
          <a:xfrm>
            <a:off x="572760" y="457200"/>
            <a:ext cx="10857240" cy="393890"/>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algn="ctr" defTabSz="914400">
              <a:lnSpc>
                <a:spcPts val="1800"/>
              </a:lnSpc>
            </a:pPr>
            <a:r>
              <a:rPr lang="en-US" sz="4400" b="1" strike="noStrike" spc="-1" dirty="0">
                <a:solidFill>
                  <a:schemeClr val="dk1"/>
                </a:solidFill>
                <a:latin typeface="Arial"/>
              </a:rPr>
              <a:t>CHALLENGES ID</a:t>
            </a:r>
            <a:r>
              <a:rPr lang="en-US" sz="4400" b="1" spc="-1" dirty="0">
                <a:solidFill>
                  <a:schemeClr val="dk1"/>
                </a:solidFill>
                <a:latin typeface="Arial"/>
              </a:rPr>
              <a:t>E</a:t>
            </a:r>
            <a:r>
              <a:rPr lang="en-US" sz="4400" b="1" strike="noStrike" spc="-1" dirty="0">
                <a:solidFill>
                  <a:schemeClr val="dk1"/>
                </a:solidFill>
                <a:latin typeface="Arial"/>
              </a:rPr>
              <a:t>NTIFIED</a:t>
            </a:r>
            <a:endParaRPr lang="en-US" sz="2000" b="0" strike="noStrike" spc="-1" dirty="0">
              <a:solidFill>
                <a:srgbClr val="000000"/>
              </a:solidFill>
              <a:latin typeface="Arial"/>
            </a:endParaRPr>
          </a:p>
        </p:txBody>
      </p:sp>
      <p:sp>
        <p:nvSpPr>
          <p:cNvPr id="76" name="Rectangle 1"/>
          <p:cNvSpPr/>
          <p:nvPr/>
        </p:nvSpPr>
        <p:spPr>
          <a:xfrm>
            <a:off x="141120" y="1993360"/>
            <a:ext cx="12050640" cy="3416320"/>
          </a:xfrm>
          <a:prstGeom prst="rect">
            <a:avLst/>
          </a:prstGeom>
          <a:noFill/>
          <a:ln w="0">
            <a:noFill/>
          </a:ln>
        </p:spPr>
        <p:style>
          <a:lnRef idx="0">
            <a:scrgbClr r="0" g="0" b="0"/>
          </a:lnRef>
          <a:fillRef idx="0">
            <a:scrgbClr r="0" g="0" b="0"/>
          </a:fillRef>
          <a:effectRef idx="0">
            <a:scrgbClr r="0" g="0" b="0"/>
          </a:effectRef>
          <a:fontRef idx="minor"/>
        </p:style>
        <p:txBody>
          <a:bodyPr numCol="1" spcCol="0" anchor="ctr">
            <a:spAutoFit/>
          </a:bodyPr>
          <a:lstStyle/>
          <a:p>
            <a:r>
              <a:rPr lang="en-US" sz="2400" dirty="0"/>
              <a:t>• Absence of labeled zero-day attack data — model must learn only from normal behavior and generalize to unseen threats</a:t>
            </a:r>
          </a:p>
          <a:p>
            <a:r>
              <a:rPr lang="en-US" sz="2400" dirty="0"/>
              <a:t>• Complex heterogeneous system interactions — modeling processes, files, and network sockets with multiple relation types</a:t>
            </a:r>
          </a:p>
          <a:p>
            <a:r>
              <a:rPr lang="en-US" sz="2400" dirty="0"/>
              <a:t>• Reconstruction error sensitivity — subtle attacks may closely mimic normal behavior, reducing anomaly separation</a:t>
            </a:r>
          </a:p>
          <a:p>
            <a:r>
              <a:rPr lang="en-US" sz="2400" dirty="0"/>
              <a:t>• Concept drift and evolving system behavior — normal patterns change over time, requiring adaptive learning</a:t>
            </a:r>
          </a:p>
          <a:p>
            <a:pPr algn="just" defTabSz="914400">
              <a:lnSpc>
                <a:spcPct val="100000"/>
              </a:lnSpc>
              <a:buClr>
                <a:srgbClr val="000000"/>
              </a:buClr>
            </a:pPr>
            <a:endParaRPr lang="en-US" sz="2400" b="0" strike="noStrike" spc="-1" dirty="0">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extBox 1"/>
          <p:cNvSpPr/>
          <p:nvPr/>
        </p:nvSpPr>
        <p:spPr>
          <a:xfrm>
            <a:off x="572760" y="457200"/>
            <a:ext cx="10857240" cy="777600"/>
          </a:xfrm>
          <a:prstGeom prst="rect">
            <a:avLst/>
          </a:prstGeom>
          <a:noFill/>
          <a:ln w="0">
            <a:noFill/>
          </a:ln>
        </p:spPr>
        <p:style>
          <a:lnRef idx="0">
            <a:scrgbClr r="0" g="0" b="0"/>
          </a:lnRef>
          <a:fillRef idx="0">
            <a:scrgbClr r="0" g="0" b="0"/>
          </a:fillRef>
          <a:effectRef idx="0">
            <a:scrgbClr r="0" g="0" b="0"/>
          </a:effectRef>
          <a:fontRef idx="minor"/>
        </p:style>
        <p:txBody>
          <a:bodyPr horzOverflow="overflow" numCol="1" spcCol="0" anchor="t">
            <a:spAutoFit/>
          </a:bodyPr>
          <a:lstStyle/>
          <a:p>
            <a:pPr algn="ctr" defTabSz="914400">
              <a:lnSpc>
                <a:spcPts val="1800"/>
              </a:lnSpc>
            </a:pPr>
            <a:r>
              <a:rPr lang="en-US" sz="4400" b="1" strike="noStrike" spc="-1">
                <a:solidFill>
                  <a:schemeClr val="dk1"/>
                </a:solidFill>
                <a:latin typeface="Arial"/>
              </a:rPr>
              <a:t>OBJECTIVE</a:t>
            </a:r>
            <a:endParaRPr lang="en-US" sz="4400" b="0" strike="noStrike" spc="-1">
              <a:solidFill>
                <a:srgbClr val="000000"/>
              </a:solidFill>
              <a:latin typeface="Arial"/>
            </a:endParaRPr>
          </a:p>
          <a:p>
            <a:pPr algn="ctr" defTabSz="914400">
              <a:lnSpc>
                <a:spcPts val="1800"/>
              </a:lnSpc>
            </a:pPr>
            <a:endParaRPr lang="en-US" sz="4400" b="0" strike="noStrike" spc="-1">
              <a:solidFill>
                <a:srgbClr val="000000"/>
              </a:solidFill>
              <a:latin typeface="Arial"/>
            </a:endParaRPr>
          </a:p>
          <a:p>
            <a:pPr algn="just" defTabSz="914400">
              <a:lnSpc>
                <a:spcPts val="1800"/>
              </a:lnSpc>
            </a:pPr>
            <a:endParaRPr lang="en-US" sz="2000" b="0" strike="noStrike" spc="-1">
              <a:solidFill>
                <a:srgbClr val="000000"/>
              </a:solidFill>
              <a:latin typeface="Arial"/>
            </a:endParaRPr>
          </a:p>
        </p:txBody>
      </p:sp>
      <p:sp>
        <p:nvSpPr>
          <p:cNvPr id="76" name="Rectangle 1"/>
          <p:cNvSpPr/>
          <p:nvPr/>
        </p:nvSpPr>
        <p:spPr>
          <a:xfrm>
            <a:off x="141120" y="1095840"/>
            <a:ext cx="12050640" cy="5211360"/>
          </a:xfrm>
          <a:prstGeom prst="rect">
            <a:avLst/>
          </a:prstGeom>
          <a:noFill/>
          <a:ln w="0">
            <a:noFill/>
          </a:ln>
        </p:spPr>
        <p:style>
          <a:lnRef idx="0">
            <a:scrgbClr r="0" g="0" b="0"/>
          </a:lnRef>
          <a:fillRef idx="0">
            <a:scrgbClr r="0" g="0" b="0"/>
          </a:fillRef>
          <a:effectRef idx="0">
            <a:scrgbClr r="0" g="0" b="0"/>
          </a:effectRef>
          <a:fontRef idx="minor"/>
        </p:style>
        <p:txBody>
          <a:bodyPr numCol="1" spcCol="0" anchor="ctr">
            <a:spAutoFit/>
          </a:bodyPr>
          <a:lstStyle/>
          <a:p>
            <a:pPr algn="just" defTabSz="914400">
              <a:lnSpc>
                <a:spcPct val="100000"/>
              </a:lnSpc>
              <a:buClr>
                <a:srgbClr val="000000"/>
              </a:buClr>
              <a:buFont typeface="Symbol" charset="2"/>
              <a:buChar char=""/>
            </a:pPr>
            <a:r>
              <a:rPr lang="en-US" sz="2400" b="0" strike="noStrike" spc="-1">
                <a:solidFill>
                  <a:schemeClr val="dk1"/>
                </a:solidFill>
                <a:latin typeface="Arial"/>
              </a:rPr>
              <a:t>To learn and model normal system behavior directly from unlabeled operational data using a behavior centric and self supervised learning approach.</a:t>
            </a:r>
            <a:endParaRPr lang="en-US" sz="2400" b="0" strike="noStrike" spc="-1">
              <a:solidFill>
                <a:srgbClr val="000000"/>
              </a:solidFill>
              <a:latin typeface="Arial"/>
            </a:endParaRPr>
          </a:p>
          <a:p>
            <a:pPr algn="just" defTabSz="914400">
              <a:lnSpc>
                <a:spcPct val="100000"/>
              </a:lnSpc>
              <a:tabLst>
                <a:tab pos="0" algn="l"/>
              </a:tabLst>
            </a:pPr>
            <a:endParaRPr lang="en-US" sz="2400" b="0" strike="noStrike" spc="-1">
              <a:solidFill>
                <a:srgbClr val="000000"/>
              </a:solidFill>
              <a:latin typeface="Arial"/>
            </a:endParaRPr>
          </a:p>
          <a:p>
            <a:pPr algn="just" defTabSz="914400">
              <a:lnSpc>
                <a:spcPct val="100000"/>
              </a:lnSpc>
              <a:buClr>
                <a:srgbClr val="000000"/>
              </a:buClr>
              <a:buFont typeface="Symbol" charset="2"/>
              <a:buChar char=""/>
              <a:tabLst>
                <a:tab pos="0" algn="l"/>
              </a:tabLst>
            </a:pPr>
            <a:r>
              <a:rPr lang="en-US" sz="2400" b="0" strike="noStrike" spc="-1">
                <a:solidFill>
                  <a:schemeClr val="dk1"/>
                </a:solidFill>
                <a:latin typeface="Arial"/>
              </a:rPr>
              <a:t>To detect previously unseen zero day attacks by identifying deviations from learned normal behavior rather than relying on predefined signatures or attack labels.</a:t>
            </a:r>
            <a:endParaRPr lang="en-US" sz="2400" b="0" strike="noStrike" spc="-1">
              <a:solidFill>
                <a:srgbClr val="000000"/>
              </a:solidFill>
              <a:latin typeface="Arial"/>
            </a:endParaRPr>
          </a:p>
          <a:p>
            <a:pPr algn="just" defTabSz="914400">
              <a:lnSpc>
                <a:spcPct val="100000"/>
              </a:lnSpc>
              <a:tabLst>
                <a:tab pos="0" algn="l"/>
              </a:tabLst>
            </a:pPr>
            <a:endParaRPr lang="en-US" sz="2400" b="0" strike="noStrike" spc="-1">
              <a:solidFill>
                <a:srgbClr val="000000"/>
              </a:solidFill>
              <a:latin typeface="Arial"/>
            </a:endParaRPr>
          </a:p>
          <a:p>
            <a:pPr algn="just" defTabSz="914400">
              <a:lnSpc>
                <a:spcPct val="100000"/>
              </a:lnSpc>
              <a:buClr>
                <a:srgbClr val="000000"/>
              </a:buClr>
              <a:buFont typeface="Symbol" charset="2"/>
              <a:buChar char=""/>
              <a:tabLst>
                <a:tab pos="0" algn="l"/>
              </a:tabLst>
            </a:pPr>
            <a:r>
              <a:rPr lang="en-US" sz="2400" b="0" strike="noStrike" spc="-1">
                <a:solidFill>
                  <a:schemeClr val="dk1"/>
                </a:solidFill>
                <a:latin typeface="Arial"/>
              </a:rPr>
              <a:t>To capture complex and multi stage attack patterns by representing system activity through behavioral relationships and interactions.</a:t>
            </a:r>
            <a:endParaRPr lang="en-US" sz="2400" b="0" strike="noStrike" spc="-1">
              <a:solidFill>
                <a:srgbClr val="000000"/>
              </a:solidFill>
              <a:latin typeface="Arial"/>
            </a:endParaRPr>
          </a:p>
          <a:p>
            <a:pPr algn="just" defTabSz="914400">
              <a:lnSpc>
                <a:spcPct val="100000"/>
              </a:lnSpc>
              <a:tabLst>
                <a:tab pos="0" algn="l"/>
              </a:tabLst>
            </a:pPr>
            <a:endParaRPr lang="en-US" sz="2400" b="0" strike="noStrike" spc="-1">
              <a:solidFill>
                <a:srgbClr val="000000"/>
              </a:solidFill>
              <a:latin typeface="Arial"/>
            </a:endParaRPr>
          </a:p>
          <a:p>
            <a:pPr algn="just" defTabSz="914400">
              <a:lnSpc>
                <a:spcPct val="100000"/>
              </a:lnSpc>
              <a:buClr>
                <a:srgbClr val="000000"/>
              </a:buClr>
              <a:buFont typeface="Symbol" charset="2"/>
              <a:buChar char=""/>
              <a:tabLst>
                <a:tab pos="0" algn="l"/>
              </a:tabLst>
            </a:pPr>
            <a:r>
              <a:rPr lang="en-US" sz="2400" b="0" strike="noStrike" spc="-1">
                <a:solidFill>
                  <a:schemeClr val="dk1"/>
                </a:solidFill>
                <a:latin typeface="Arial"/>
              </a:rPr>
              <a:t>To adapt continuously to evolving system behavior and emerging threats while preserving previously acquired knowledge.</a:t>
            </a:r>
            <a:endParaRPr lang="en-US" sz="2400" b="0" strike="noStrike" spc="-1">
              <a:solidFill>
                <a:srgbClr val="000000"/>
              </a:solidFill>
              <a:latin typeface="Arial"/>
            </a:endParaRPr>
          </a:p>
          <a:p>
            <a:pPr algn="just" defTabSz="914400">
              <a:lnSpc>
                <a:spcPct val="100000"/>
              </a:lnSpc>
              <a:tabLst>
                <a:tab pos="0" algn="l"/>
              </a:tabLst>
            </a:pPr>
            <a:endParaRPr lang="en-US" sz="2400" b="0" strike="noStrike" spc="-1">
              <a:solidFill>
                <a:srgbClr val="000000"/>
              </a:solidFill>
              <a:latin typeface="Arial"/>
            </a:endParaRPr>
          </a:p>
          <a:p>
            <a:pPr algn="just" defTabSz="914400">
              <a:lnSpc>
                <a:spcPct val="100000"/>
              </a:lnSpc>
              <a:buClr>
                <a:srgbClr val="000000"/>
              </a:buClr>
              <a:buFont typeface="Symbol" charset="2"/>
              <a:buChar char=""/>
              <a:tabLst>
                <a:tab pos="0" algn="l"/>
              </a:tabLst>
            </a:pPr>
            <a:r>
              <a:rPr lang="en-US" sz="2400" b="0" strike="noStrike" spc="-1">
                <a:solidFill>
                  <a:schemeClr val="dk1"/>
                </a:solidFill>
                <a:latin typeface="Arial"/>
              </a:rPr>
              <a:t>To generate reliable and interpretable security alerts that support effective decision making in real world cybersecurity environments.</a:t>
            </a:r>
            <a:endParaRPr lang="en-US" sz="2400" b="0" strike="noStrike" spc="-1">
              <a:solidFill>
                <a:srgbClr val="000000"/>
              </a:solidFill>
              <a:latin typeface="Arial"/>
            </a:endParaRPr>
          </a:p>
        </p:txBody>
      </p:sp>
    </p:spTree>
    <p:extLst>
      <p:ext uri="{BB962C8B-B14F-4D97-AF65-F5344CB8AC3E}">
        <p14:creationId xmlns:p14="http://schemas.microsoft.com/office/powerpoint/2010/main" val="398458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TextBox 84"/>
          <p:cNvSpPr txBox="1"/>
          <p:nvPr/>
        </p:nvSpPr>
        <p:spPr>
          <a:xfrm>
            <a:off x="4114800" y="228600"/>
            <a:ext cx="3657600" cy="715320"/>
          </a:xfrm>
          <a:prstGeom prst="rect">
            <a:avLst/>
          </a:prstGeom>
          <a:noFill/>
          <a:ln w="0">
            <a:noFill/>
          </a:ln>
        </p:spPr>
        <p:txBody>
          <a:bodyPr lIns="90000" tIns="45000" rIns="90000" bIns="45000" anchor="t">
            <a:noAutofit/>
          </a:bodyPr>
          <a:lstStyle/>
          <a:p>
            <a:r>
              <a:rPr lang="en-US" sz="2400" b="0" strike="noStrike" spc="-1">
                <a:solidFill>
                  <a:srgbClr val="000000"/>
                </a:solidFill>
                <a:latin typeface="Arial"/>
              </a:rPr>
              <a:t> </a:t>
            </a:r>
            <a:r>
              <a:rPr lang="en-US" sz="2400" b="1" strike="noStrike" spc="-1">
                <a:solidFill>
                  <a:srgbClr val="000000"/>
                </a:solidFill>
                <a:latin typeface="Arial"/>
              </a:rPr>
              <a:t> </a:t>
            </a:r>
            <a:r>
              <a:rPr lang="en-US" sz="4400" b="1" strike="noStrike" spc="-1">
                <a:solidFill>
                  <a:srgbClr val="000000"/>
                </a:solidFill>
                <a:latin typeface="Arial"/>
              </a:rPr>
              <a:t>Architecture</a:t>
            </a:r>
            <a:r>
              <a:rPr lang="en-US" sz="4400" b="0" strike="noStrike" spc="-1">
                <a:solidFill>
                  <a:srgbClr val="000000"/>
                </a:solidFill>
                <a:latin typeface="Arial"/>
              </a:rPr>
              <a:t> </a:t>
            </a:r>
          </a:p>
        </p:txBody>
      </p:sp>
      <p:pic>
        <p:nvPicPr>
          <p:cNvPr id="3" name="Picture 2">
            <a:extLst>
              <a:ext uri="{FF2B5EF4-FFF2-40B4-BE49-F238E27FC236}">
                <a16:creationId xmlns:a16="http://schemas.microsoft.com/office/drawing/2014/main" id="{9CC30018-5123-E1AC-B62F-9D340700BC59}"/>
              </a:ext>
            </a:extLst>
          </p:cNvPr>
          <p:cNvPicPr>
            <a:picLocks noChangeAspect="1"/>
          </p:cNvPicPr>
          <p:nvPr/>
        </p:nvPicPr>
        <p:blipFill>
          <a:blip r:embed="rId2"/>
          <a:stretch>
            <a:fillRect/>
          </a:stretch>
        </p:blipFill>
        <p:spPr>
          <a:xfrm>
            <a:off x="991757" y="1068462"/>
            <a:ext cx="10208485" cy="556093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a:solidFill>
                  <a:schemeClr val="dk1"/>
                </a:solidFill>
                <a:latin typeface="Aptos Display"/>
              </a:rPr>
              <a:t>Module wise description </a:t>
            </a:r>
            <a:endParaRPr lang="en-US" sz="4400" b="0" strike="noStrike" spc="-1">
              <a:solidFill>
                <a:schemeClr val="dk1"/>
              </a:solidFill>
              <a:latin typeface="Aptos"/>
            </a:endParaRPr>
          </a:p>
        </p:txBody>
      </p:sp>
      <p:sp>
        <p:nvSpPr>
          <p:cNvPr id="87" name="PlaceHolder 2"/>
          <p:cNvSpPr>
            <a:spLocks noGrp="1"/>
          </p:cNvSpPr>
          <p:nvPr>
            <p:ph/>
          </p:nvPr>
        </p:nvSpPr>
        <p:spPr>
          <a:xfrm>
            <a:off x="838080" y="1855056"/>
            <a:ext cx="10515240" cy="4350960"/>
          </a:xfrm>
          <a:prstGeom prst="rect">
            <a:avLst/>
          </a:prstGeom>
          <a:noFill/>
          <a:ln w="0">
            <a:noFill/>
          </a:ln>
        </p:spPr>
        <p:txBody>
          <a:bodyPr lIns="91440" tIns="45720" rIns="91440" bIns="45720" anchor="t">
            <a:noAutofit/>
          </a:bodyPr>
          <a:lstStyle/>
          <a:p>
            <a:pPr indent="0" defTabSz="914400">
              <a:lnSpc>
                <a:spcPct val="90000"/>
              </a:lnSpc>
              <a:spcBef>
                <a:spcPts val="1001"/>
              </a:spcBef>
              <a:buNone/>
              <a:tabLst>
                <a:tab pos="0" algn="l"/>
              </a:tabLst>
            </a:pPr>
            <a:r>
              <a:rPr lang="en-US" sz="2800" b="1" strike="noStrike" spc="-1" dirty="0">
                <a:solidFill>
                  <a:schemeClr val="dk1"/>
                </a:solidFill>
                <a:latin typeface="Aptos"/>
              </a:rPr>
              <a:t>System Monitoring Module</a:t>
            </a:r>
            <a:endParaRPr lang="en-US" sz="2800" b="0" strike="noStrike" spc="-1" dirty="0">
              <a:solidFill>
                <a:schemeClr val="dk1"/>
              </a:solidFill>
              <a:latin typeface="Aptos"/>
            </a:endParaRPr>
          </a:p>
          <a:p>
            <a:pPr algn="just" rtl="0" fontAlgn="base">
              <a:spcBef>
                <a:spcPts val="1001"/>
              </a:spcBef>
              <a:spcAft>
                <a:spcPts val="0"/>
              </a:spcAft>
              <a:buFont typeface="Arial" panose="020B0604020202020204" pitchFamily="34" charset="0"/>
              <a:buChar char="•"/>
            </a:pPr>
            <a:r>
              <a:rPr lang="en-US" sz="2400" b="0" i="0" u="none" strike="noStrike" dirty="0">
                <a:solidFill>
                  <a:srgbClr val="000000"/>
                </a:solidFill>
                <a:effectLst/>
                <a:latin typeface="Arial" panose="020B0604020202020204" pitchFamily="34" charset="0"/>
              </a:rPr>
              <a:t>Captures </a:t>
            </a:r>
            <a:r>
              <a:rPr lang="en-US" sz="2400" b="0" i="0" u="none" strike="noStrike" dirty="0" err="1">
                <a:solidFill>
                  <a:srgbClr val="000000"/>
                </a:solidFill>
                <a:effectLst/>
                <a:latin typeface="Arial" panose="020B0604020202020204" pitchFamily="34" charset="0"/>
              </a:rPr>
              <a:t>syscall</a:t>
            </a:r>
            <a:r>
              <a:rPr lang="en-US" sz="2400" b="0" i="0" u="none" strike="noStrike" dirty="0">
                <a:solidFill>
                  <a:srgbClr val="000000"/>
                </a:solidFill>
                <a:effectLst/>
                <a:latin typeface="Arial" panose="020B0604020202020204" pitchFamily="34" charset="0"/>
              </a:rPr>
              <a:t> events like read, write, execute, connect, and fork from       running processes.</a:t>
            </a:r>
          </a:p>
          <a:p>
            <a:pPr algn="just" rtl="0" fontAlgn="base">
              <a:spcBef>
                <a:spcPts val="1001"/>
              </a:spcBef>
              <a:spcAft>
                <a:spcPts val="0"/>
              </a:spcAft>
              <a:buFont typeface="Arial" panose="020B0604020202020204" pitchFamily="34" charset="0"/>
              <a:buChar char="•"/>
            </a:pPr>
            <a:r>
              <a:rPr lang="en-US" sz="2400" b="0" i="0" u="none" strike="noStrike" dirty="0">
                <a:solidFill>
                  <a:srgbClr val="000000"/>
                </a:solidFill>
                <a:effectLst/>
                <a:latin typeface="Arial" panose="020B0604020202020204" pitchFamily="34" charset="0"/>
              </a:rPr>
              <a:t>Supports both batch collection and continuous streaming modes.</a:t>
            </a:r>
          </a:p>
          <a:p>
            <a:pPr algn="just" rtl="0" fontAlgn="base">
              <a:spcBef>
                <a:spcPts val="1001"/>
              </a:spcBef>
              <a:spcAft>
                <a:spcPts val="0"/>
              </a:spcAft>
              <a:buFont typeface="Arial" panose="020B0604020202020204" pitchFamily="34" charset="0"/>
              <a:buChar char="•"/>
            </a:pPr>
            <a:r>
              <a:rPr lang="en-US" sz="2400" b="0" i="0" u="none" strike="noStrike" dirty="0">
                <a:solidFill>
                  <a:srgbClr val="000000"/>
                </a:solidFill>
                <a:effectLst/>
                <a:latin typeface="Arial" panose="020B0604020202020204" pitchFamily="34" charset="0"/>
              </a:rPr>
              <a:t>Outputs standardized event objects that feed into the graph construction module.</a:t>
            </a:r>
          </a:p>
          <a:p>
            <a:pPr algn="just" rtl="0" fontAlgn="base">
              <a:spcBef>
                <a:spcPts val="1001"/>
              </a:spcBef>
              <a:spcAft>
                <a:spcPts val="0"/>
              </a:spcAft>
              <a:buFont typeface="Arial" panose="020B0604020202020204" pitchFamily="34" charset="0"/>
              <a:buChar char="•"/>
            </a:pPr>
            <a:r>
              <a:rPr lang="en-US" sz="2400" b="0" i="0" u="none" strike="noStrike" dirty="0">
                <a:solidFill>
                  <a:srgbClr val="000000"/>
                </a:solidFill>
                <a:effectLst/>
                <a:latin typeface="Arial" panose="020B0604020202020204" pitchFamily="34" charset="0"/>
              </a:rPr>
              <a:t>This ensures that both benign and potentially malicious behaviors are captured in their natural form.</a:t>
            </a:r>
          </a:p>
          <a:p>
            <a:pPr indent="0" defTabSz="914400">
              <a:lnSpc>
                <a:spcPct val="90000"/>
              </a:lnSpc>
              <a:spcBef>
                <a:spcPts val="1001"/>
              </a:spcBef>
              <a:buNone/>
              <a:tabLst>
                <a:tab pos="0" algn="l"/>
              </a:tabLst>
            </a:pPr>
            <a:endParaRPr lang="en-US" sz="2800" b="0" strike="noStrike" spc="-1" dirty="0">
              <a:solidFill>
                <a:schemeClr val="dk1"/>
              </a:solidFill>
              <a:latin typeface="Aptos"/>
            </a:endParaRPr>
          </a:p>
        </p:txBody>
      </p:sp>
    </p:spTree>
    <p:extLst>
      <p:ext uri="{BB962C8B-B14F-4D97-AF65-F5344CB8AC3E}">
        <p14:creationId xmlns:p14="http://schemas.microsoft.com/office/powerpoint/2010/main" val="661398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405460" y="89736"/>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dirty="0">
                <a:solidFill>
                  <a:schemeClr val="dk1"/>
                </a:solidFill>
                <a:latin typeface="Aptos Display"/>
              </a:rPr>
              <a:t>Diagram and Algorithm</a:t>
            </a:r>
            <a:endParaRPr lang="en-US" sz="4400" b="0" strike="noStrike" spc="-1" dirty="0">
              <a:solidFill>
                <a:schemeClr val="dk1"/>
              </a:solidFill>
              <a:latin typeface="Aptos"/>
            </a:endParaRPr>
          </a:p>
        </p:txBody>
      </p:sp>
      <p:pic>
        <p:nvPicPr>
          <p:cNvPr id="3" name="Content Placeholder 2">
            <a:extLst>
              <a:ext uri="{FF2B5EF4-FFF2-40B4-BE49-F238E27FC236}">
                <a16:creationId xmlns:a16="http://schemas.microsoft.com/office/drawing/2014/main" id="{DB881438-8C2C-0E9E-3ADB-68BE0872BF1B}"/>
              </a:ext>
            </a:extLst>
          </p:cNvPr>
          <p:cNvPicPr>
            <a:picLocks noGrp="1" noChangeAspect="1"/>
          </p:cNvPicPr>
          <p:nvPr>
            <p:ph/>
          </p:nvPr>
        </p:nvPicPr>
        <p:blipFill>
          <a:blip r:embed="rId2"/>
          <a:stretch>
            <a:fillRect/>
          </a:stretch>
        </p:blipFill>
        <p:spPr>
          <a:xfrm>
            <a:off x="301969" y="1538758"/>
            <a:ext cx="6934574" cy="4836215"/>
          </a:xfrm>
          <a:prstGeom prst="rect">
            <a:avLst/>
          </a:prstGeom>
          <a:noFill/>
          <a:ln w="0">
            <a:noFill/>
          </a:ln>
        </p:spPr>
      </p:pic>
      <p:sp>
        <p:nvSpPr>
          <p:cNvPr id="4" name="TextBox 3">
            <a:extLst>
              <a:ext uri="{FF2B5EF4-FFF2-40B4-BE49-F238E27FC236}">
                <a16:creationId xmlns:a16="http://schemas.microsoft.com/office/drawing/2014/main" id="{BC83E330-9A56-657B-6D57-2AE49F76C2D9}"/>
              </a:ext>
            </a:extLst>
          </p:cNvPr>
          <p:cNvSpPr txBox="1"/>
          <p:nvPr/>
        </p:nvSpPr>
        <p:spPr>
          <a:xfrm>
            <a:off x="7652328" y="1542881"/>
            <a:ext cx="4237703" cy="4832092"/>
          </a:xfrm>
          <a:prstGeom prst="rect">
            <a:avLst/>
          </a:prstGeom>
          <a:noFill/>
        </p:spPr>
        <p:txBody>
          <a:bodyPr wrap="square" rtlCol="0">
            <a:spAutoFit/>
          </a:bodyPr>
          <a:lstStyle/>
          <a:p>
            <a:r>
              <a:rPr lang="en-US" sz="1400" dirty="0"/>
              <a:t>START</a:t>
            </a:r>
          </a:p>
          <a:p>
            <a:endParaRPr lang="en-US" sz="1400" dirty="0"/>
          </a:p>
          <a:p>
            <a:r>
              <a:rPr lang="en-US" sz="1400" dirty="0"/>
              <a:t>mode = input("simulated / attack")</a:t>
            </a:r>
          </a:p>
          <a:p>
            <a:r>
              <a:rPr lang="en-US" sz="1400" dirty="0"/>
              <a:t>collector = </a:t>
            </a:r>
            <a:r>
              <a:rPr lang="en-US" sz="1400" dirty="0" err="1"/>
              <a:t>create_collector</a:t>
            </a:r>
            <a:r>
              <a:rPr lang="en-US" sz="1400" dirty="0"/>
              <a:t>(mode)</a:t>
            </a:r>
          </a:p>
          <a:p>
            <a:endParaRPr lang="en-US" sz="1400" dirty="0"/>
          </a:p>
          <a:p>
            <a:r>
              <a:rPr lang="en-US" sz="1400" dirty="0"/>
              <a:t>IF </a:t>
            </a:r>
            <a:r>
              <a:rPr lang="en-US" sz="1400" dirty="0" err="1"/>
              <a:t>streaming_mode</a:t>
            </a:r>
            <a:r>
              <a:rPr lang="en-US" sz="1400" dirty="0"/>
              <a:t>:</a:t>
            </a:r>
          </a:p>
          <a:p>
            <a:endParaRPr lang="en-US" sz="1400" dirty="0"/>
          </a:p>
          <a:p>
            <a:r>
              <a:rPr lang="en-US" sz="1400" dirty="0"/>
              <a:t>    LOOP forever:</a:t>
            </a:r>
          </a:p>
          <a:p>
            <a:r>
              <a:rPr lang="en-US" sz="1400" dirty="0"/>
              <a:t>        event = </a:t>
            </a:r>
            <a:r>
              <a:rPr lang="en-US" sz="1400" dirty="0" err="1"/>
              <a:t>collector.stream_events</a:t>
            </a:r>
            <a:r>
              <a:rPr lang="en-US" sz="1400" dirty="0"/>
              <a:t>()</a:t>
            </a:r>
          </a:p>
          <a:p>
            <a:r>
              <a:rPr lang="en-US" sz="1400" dirty="0"/>
              <a:t>        </a:t>
            </a:r>
            <a:r>
              <a:rPr lang="en-US" sz="1400" dirty="0" err="1"/>
              <a:t>send_event_to_pipeline</a:t>
            </a:r>
            <a:r>
              <a:rPr lang="en-US" sz="1400" dirty="0"/>
              <a:t>(event)</a:t>
            </a:r>
          </a:p>
          <a:p>
            <a:r>
              <a:rPr lang="en-US" sz="1400" dirty="0"/>
              <a:t>        sleep(1 / </a:t>
            </a:r>
            <a:r>
              <a:rPr lang="en-US" sz="1400" dirty="0" err="1"/>
              <a:t>events_per_second</a:t>
            </a:r>
            <a:r>
              <a:rPr lang="en-US" sz="1400" dirty="0"/>
              <a:t>)</a:t>
            </a:r>
          </a:p>
          <a:p>
            <a:endParaRPr lang="en-US" sz="1400" dirty="0"/>
          </a:p>
          <a:p>
            <a:r>
              <a:rPr lang="en-US" sz="1400" dirty="0"/>
              <a:t>ELSE:   # batch mode</a:t>
            </a:r>
          </a:p>
          <a:p>
            <a:endParaRPr lang="en-US" sz="1400" dirty="0"/>
          </a:p>
          <a:p>
            <a:r>
              <a:rPr lang="en-US" sz="1400" dirty="0"/>
              <a:t>    duration = </a:t>
            </a:r>
            <a:r>
              <a:rPr lang="en-US" sz="1400" dirty="0" err="1"/>
              <a:t>get_collection_time</a:t>
            </a:r>
            <a:r>
              <a:rPr lang="en-US" sz="1400" dirty="0"/>
              <a:t>()</a:t>
            </a:r>
          </a:p>
          <a:p>
            <a:r>
              <a:rPr lang="en-US" sz="1400" dirty="0"/>
              <a:t>    events = </a:t>
            </a:r>
            <a:r>
              <a:rPr lang="en-US" sz="1400" dirty="0" err="1"/>
              <a:t>collector.collect_events</a:t>
            </a:r>
            <a:r>
              <a:rPr lang="en-US" sz="1400" dirty="0"/>
              <a:t>(duration)</a:t>
            </a:r>
          </a:p>
          <a:p>
            <a:endParaRPr lang="en-US" sz="1400" dirty="0"/>
          </a:p>
          <a:p>
            <a:r>
              <a:rPr lang="en-US" sz="1400" dirty="0"/>
              <a:t>    FOR each event IN events:</a:t>
            </a:r>
          </a:p>
          <a:p>
            <a:r>
              <a:rPr lang="en-US" sz="1400" dirty="0"/>
              <a:t>        </a:t>
            </a:r>
            <a:r>
              <a:rPr lang="en-US" sz="1400" dirty="0" err="1"/>
              <a:t>send_event_to_pipeline</a:t>
            </a:r>
            <a:r>
              <a:rPr lang="en-US" sz="1400" dirty="0"/>
              <a:t>(event)</a:t>
            </a:r>
          </a:p>
          <a:p>
            <a:endParaRPr lang="en-US" sz="1400" dirty="0"/>
          </a:p>
          <a:p>
            <a:r>
              <a:rPr lang="en-US" sz="1400" dirty="0"/>
              <a:t>END</a:t>
            </a:r>
          </a:p>
          <a:p>
            <a:endParaRPr lang="en-IN" sz="1400" dirty="0"/>
          </a:p>
        </p:txBody>
      </p:sp>
    </p:spTree>
    <p:extLst>
      <p:ext uri="{BB962C8B-B14F-4D97-AF65-F5344CB8AC3E}">
        <p14:creationId xmlns:p14="http://schemas.microsoft.com/office/powerpoint/2010/main" val="14799635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pc="-1" dirty="0">
                <a:solidFill>
                  <a:schemeClr val="dk1"/>
                </a:solidFill>
                <a:latin typeface="Aptos"/>
              </a:rPr>
              <a:t>Behavioral Graph Constructor</a:t>
            </a:r>
            <a:endParaRPr lang="en-US" sz="4400" b="0" strike="noStrike" spc="-1" dirty="0">
              <a:solidFill>
                <a:schemeClr val="dk1"/>
              </a:solidFill>
              <a:latin typeface="Aptos"/>
            </a:endParaRPr>
          </a:p>
        </p:txBody>
      </p:sp>
      <p:sp>
        <p:nvSpPr>
          <p:cNvPr id="87" name="PlaceHolder 2"/>
          <p:cNvSpPr>
            <a:spLocks noGrp="1"/>
          </p:cNvSpPr>
          <p:nvPr>
            <p:ph/>
          </p:nvPr>
        </p:nvSpPr>
        <p:spPr>
          <a:xfrm>
            <a:off x="838080" y="1855056"/>
            <a:ext cx="10515240" cy="4350960"/>
          </a:xfrm>
          <a:prstGeom prst="rect">
            <a:avLst/>
          </a:prstGeom>
          <a:noFill/>
          <a:ln w="0">
            <a:noFill/>
          </a:ln>
        </p:spPr>
        <p:txBody>
          <a:bodyPr lIns="91440" tIns="45720" rIns="91440" bIns="45720" anchor="t">
            <a:noAutofit/>
          </a:bodyPr>
          <a:lstStyle/>
          <a:p>
            <a:pPr marL="171450" indent="-171450" algn="just">
              <a:lnSpc>
                <a:spcPct val="100000"/>
              </a:lnSpc>
              <a:buFont typeface="Arial" panose="020B0604020202020204" pitchFamily="34" charset="0"/>
              <a:buChar char="•"/>
            </a:pPr>
            <a:r>
              <a:rPr lang="en-US" sz="2400" dirty="0"/>
              <a:t>Behavior graphs are converted into a format compatible with </a:t>
            </a:r>
            <a:r>
              <a:rPr lang="en-US" sz="2400" dirty="0" err="1"/>
              <a:t>PyTorch</a:t>
            </a:r>
            <a:r>
              <a:rPr lang="en-US" sz="2400" dirty="0"/>
              <a:t> Geometric so a Graph Neural Network can process them.</a:t>
            </a:r>
          </a:p>
          <a:p>
            <a:pPr marL="171450" indent="-171450" algn="just">
              <a:lnSpc>
                <a:spcPct val="100000"/>
              </a:lnSpc>
              <a:buFont typeface="Arial" panose="020B0604020202020204" pitchFamily="34" charset="0"/>
              <a:buChar char="•"/>
            </a:pPr>
            <a:r>
              <a:rPr lang="en-US" sz="2400" dirty="0"/>
              <a:t>A Graph Autoencoder compresses node features into embeddings and tries to rebuild the original graph connections.</a:t>
            </a:r>
          </a:p>
          <a:p>
            <a:pPr marL="171450" indent="-171450" algn="just">
              <a:lnSpc>
                <a:spcPct val="100000"/>
              </a:lnSpc>
              <a:buFont typeface="Arial" panose="020B0604020202020204" pitchFamily="34" charset="0"/>
              <a:buChar char="•"/>
            </a:pPr>
            <a:r>
              <a:rPr lang="en-US" sz="2400" dirty="0"/>
              <a:t>The model is trained only on normal system behavior, so it learns what “healthy” activity looks like.</a:t>
            </a:r>
          </a:p>
          <a:p>
            <a:pPr marL="171450" indent="-171450" algn="just">
              <a:lnSpc>
                <a:spcPct val="100000"/>
              </a:lnSpc>
              <a:buFont typeface="Arial" panose="020B0604020202020204" pitchFamily="34" charset="0"/>
              <a:buChar char="•"/>
            </a:pPr>
            <a:r>
              <a:rPr lang="en-US" sz="2400" dirty="0"/>
              <a:t>If a new graph is difficult to reconstruct, the reconstruction error becomes high and is treated as the anomaly score.</a:t>
            </a:r>
          </a:p>
          <a:p>
            <a:pPr marL="171450" indent="-171450" algn="just">
              <a:lnSpc>
                <a:spcPct val="100000"/>
              </a:lnSpc>
              <a:buFont typeface="Arial" panose="020B0604020202020204" pitchFamily="34" charset="0"/>
              <a:buChar char="•"/>
            </a:pPr>
            <a:r>
              <a:rPr lang="en-US" sz="2400" dirty="0"/>
              <a:t>An alert is raised when the error goes beyond the normal range, calculated as the mean plus three standard deviations.</a:t>
            </a:r>
          </a:p>
        </p:txBody>
      </p:sp>
    </p:spTree>
    <p:extLst>
      <p:ext uri="{BB962C8B-B14F-4D97-AF65-F5344CB8AC3E}">
        <p14:creationId xmlns:p14="http://schemas.microsoft.com/office/powerpoint/2010/main" val="3783571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dirty="0">
                <a:solidFill>
                  <a:schemeClr val="dk1"/>
                </a:solidFill>
                <a:latin typeface="Aptos"/>
              </a:rPr>
              <a:t>Diagram and Algorithm</a:t>
            </a:r>
          </a:p>
        </p:txBody>
      </p:sp>
      <p:pic>
        <p:nvPicPr>
          <p:cNvPr id="3" name="Content Placeholder 2">
            <a:extLst>
              <a:ext uri="{FF2B5EF4-FFF2-40B4-BE49-F238E27FC236}">
                <a16:creationId xmlns:a16="http://schemas.microsoft.com/office/drawing/2014/main" id="{D8DE1335-0D4B-185A-B704-E964B56C566D}"/>
              </a:ext>
            </a:extLst>
          </p:cNvPr>
          <p:cNvPicPr>
            <a:picLocks noGrp="1" noChangeAspect="1"/>
          </p:cNvPicPr>
          <p:nvPr>
            <p:ph/>
          </p:nvPr>
        </p:nvPicPr>
        <p:blipFill>
          <a:blip r:embed="rId2"/>
          <a:stretch>
            <a:fillRect/>
          </a:stretch>
        </p:blipFill>
        <p:spPr>
          <a:xfrm>
            <a:off x="179438" y="2309484"/>
            <a:ext cx="8883517" cy="3639031"/>
          </a:xfrm>
          <a:prstGeom prst="rect">
            <a:avLst/>
          </a:prstGeom>
          <a:noFill/>
          <a:ln w="0">
            <a:noFill/>
          </a:ln>
        </p:spPr>
      </p:pic>
      <p:sp>
        <p:nvSpPr>
          <p:cNvPr id="4" name="TextBox 3">
            <a:extLst>
              <a:ext uri="{FF2B5EF4-FFF2-40B4-BE49-F238E27FC236}">
                <a16:creationId xmlns:a16="http://schemas.microsoft.com/office/drawing/2014/main" id="{C6AF950B-7900-727B-89CC-F8C1848367DB}"/>
              </a:ext>
            </a:extLst>
          </p:cNvPr>
          <p:cNvSpPr txBox="1"/>
          <p:nvPr/>
        </p:nvSpPr>
        <p:spPr>
          <a:xfrm>
            <a:off x="9062955" y="456247"/>
            <a:ext cx="2989006" cy="6401753"/>
          </a:xfrm>
          <a:prstGeom prst="rect">
            <a:avLst/>
          </a:prstGeom>
          <a:noFill/>
        </p:spPr>
        <p:txBody>
          <a:bodyPr wrap="square" rtlCol="0">
            <a:spAutoFit/>
          </a:bodyPr>
          <a:lstStyle/>
          <a:p>
            <a:r>
              <a:rPr lang="en-IN" sz="1000" dirty="0"/>
              <a:t>CLASS </a:t>
            </a:r>
            <a:r>
              <a:rPr lang="en-IN" sz="1000" dirty="0" err="1"/>
              <a:t>GraphBuilder</a:t>
            </a:r>
            <a:endParaRPr lang="en-IN" sz="1000" dirty="0"/>
          </a:p>
          <a:p>
            <a:endParaRPr lang="en-IN" sz="1000" dirty="0"/>
          </a:p>
          <a:p>
            <a:r>
              <a:rPr lang="en-IN" sz="1000" dirty="0"/>
              <a:t>    INIT:</a:t>
            </a:r>
          </a:p>
          <a:p>
            <a:r>
              <a:rPr lang="en-IN" sz="1000" dirty="0"/>
              <a:t>        Map </a:t>
            </a:r>
            <a:r>
              <a:rPr lang="en-IN" sz="1000" dirty="0" err="1"/>
              <a:t>syscalls</a:t>
            </a:r>
            <a:r>
              <a:rPr lang="en-IN" sz="1000" dirty="0"/>
              <a:t> → edge types (</a:t>
            </a:r>
            <a:r>
              <a:rPr lang="en-IN" sz="1000" dirty="0" err="1"/>
              <a:t>execve</a:t>
            </a:r>
            <a:r>
              <a:rPr lang="en-IN" sz="1000" dirty="0"/>
              <a:t>, read, write, connect…)</a:t>
            </a:r>
          </a:p>
          <a:p>
            <a:r>
              <a:rPr lang="en-IN" sz="1000" dirty="0"/>
              <a:t>        Map resources → node types (PROCESS, FILE, SOCKET)</a:t>
            </a:r>
          </a:p>
          <a:p>
            <a:r>
              <a:rPr lang="en-IN" sz="1000" dirty="0"/>
              <a:t>        Define noisy processes to ignore</a:t>
            </a:r>
          </a:p>
          <a:p>
            <a:endParaRPr lang="en-IN" sz="1000" dirty="0"/>
          </a:p>
          <a:p>
            <a:endParaRPr lang="en-IN" sz="1000" dirty="0"/>
          </a:p>
          <a:p>
            <a:r>
              <a:rPr lang="en-IN" sz="1000" dirty="0"/>
              <a:t>    FUNCTION </a:t>
            </a:r>
            <a:r>
              <a:rPr lang="en-IN" sz="1000" dirty="0" err="1"/>
              <a:t>filter_events</a:t>
            </a:r>
            <a:r>
              <a:rPr lang="en-IN" sz="1000" dirty="0"/>
              <a:t>(events):</a:t>
            </a:r>
          </a:p>
          <a:p>
            <a:r>
              <a:rPr lang="en-IN" sz="1000" dirty="0"/>
              <a:t>        Remove noisy system activity and temp files</a:t>
            </a:r>
          </a:p>
          <a:p>
            <a:r>
              <a:rPr lang="en-IN" sz="1000" dirty="0"/>
              <a:t>        RETURN cleaned events</a:t>
            </a:r>
          </a:p>
          <a:p>
            <a:endParaRPr lang="en-IN" sz="1000" dirty="0"/>
          </a:p>
          <a:p>
            <a:endParaRPr lang="en-IN" sz="1000" dirty="0"/>
          </a:p>
          <a:p>
            <a:r>
              <a:rPr lang="en-IN" sz="1000" dirty="0"/>
              <a:t>    FUNCTION </a:t>
            </a:r>
            <a:r>
              <a:rPr lang="en-IN" sz="1000" dirty="0" err="1"/>
              <a:t>build_graph</a:t>
            </a:r>
            <a:r>
              <a:rPr lang="en-IN" sz="1000" dirty="0"/>
              <a:t>(events):</a:t>
            </a:r>
          </a:p>
          <a:p>
            <a:r>
              <a:rPr lang="en-IN" sz="1000" dirty="0"/>
              <a:t>        Create empty graph</a:t>
            </a:r>
          </a:p>
          <a:p>
            <a:r>
              <a:rPr lang="en-IN" sz="1000" dirty="0"/>
              <a:t>        FOR each event:</a:t>
            </a:r>
          </a:p>
          <a:p>
            <a:r>
              <a:rPr lang="en-IN" sz="1000" dirty="0"/>
              <a:t>            Add process node</a:t>
            </a:r>
          </a:p>
          <a:p>
            <a:r>
              <a:rPr lang="en-IN" sz="1000" dirty="0"/>
              <a:t>            Add target node (file/socket/process)</a:t>
            </a:r>
          </a:p>
          <a:p>
            <a:r>
              <a:rPr lang="en-IN" sz="1000" dirty="0"/>
              <a:t>            Add edge based on </a:t>
            </a:r>
            <a:r>
              <a:rPr lang="en-IN" sz="1000" dirty="0" err="1"/>
              <a:t>syscall</a:t>
            </a:r>
            <a:r>
              <a:rPr lang="en-IN" sz="1000" dirty="0"/>
              <a:t> type</a:t>
            </a:r>
          </a:p>
          <a:p>
            <a:r>
              <a:rPr lang="en-IN" sz="1000" dirty="0"/>
              <a:t>        Compute node features</a:t>
            </a:r>
          </a:p>
          <a:p>
            <a:r>
              <a:rPr lang="en-IN" sz="1000" dirty="0"/>
              <a:t>        RETURN graph</a:t>
            </a:r>
          </a:p>
          <a:p>
            <a:endParaRPr lang="en-IN" sz="1000" dirty="0"/>
          </a:p>
          <a:p>
            <a:endParaRPr lang="en-IN" sz="1000" dirty="0"/>
          </a:p>
          <a:p>
            <a:r>
              <a:rPr lang="en-IN" sz="1000" dirty="0"/>
              <a:t>    FUNCTION </a:t>
            </a:r>
            <a:r>
              <a:rPr lang="en-IN" sz="1000" dirty="0" err="1"/>
              <a:t>compute_node_features</a:t>
            </a:r>
            <a:r>
              <a:rPr lang="en-IN" sz="1000" dirty="0"/>
              <a:t>(graph):</a:t>
            </a:r>
          </a:p>
          <a:p>
            <a:r>
              <a:rPr lang="en-IN" sz="1000" dirty="0"/>
              <a:t>        For each node compute:</a:t>
            </a:r>
          </a:p>
          <a:p>
            <a:r>
              <a:rPr lang="en-IN" sz="1000" dirty="0"/>
              <a:t>            type (one-hot)</a:t>
            </a:r>
          </a:p>
          <a:p>
            <a:r>
              <a:rPr lang="en-IN" sz="1000" dirty="0"/>
              <a:t>            in-degree</a:t>
            </a:r>
          </a:p>
          <a:p>
            <a:r>
              <a:rPr lang="en-IN" sz="1000" dirty="0"/>
              <a:t>            out-degree</a:t>
            </a:r>
          </a:p>
          <a:p>
            <a:r>
              <a:rPr lang="en-IN" sz="1000" dirty="0"/>
              <a:t>            activity over time</a:t>
            </a:r>
          </a:p>
          <a:p>
            <a:endParaRPr lang="en-IN" sz="1000" dirty="0"/>
          </a:p>
          <a:p>
            <a:endParaRPr lang="en-IN" sz="1000" dirty="0"/>
          </a:p>
          <a:p>
            <a:r>
              <a:rPr lang="en-IN" sz="1000" dirty="0"/>
              <a:t>    FUNCTION </a:t>
            </a:r>
            <a:r>
              <a:rPr lang="en-IN" sz="1000" dirty="0" err="1"/>
              <a:t>build_graphs_from_events</a:t>
            </a:r>
            <a:r>
              <a:rPr lang="en-IN" sz="1000" dirty="0"/>
              <a:t>(events):</a:t>
            </a:r>
          </a:p>
          <a:p>
            <a:r>
              <a:rPr lang="en-IN" sz="1000" dirty="0"/>
              <a:t>        events ← </a:t>
            </a:r>
            <a:r>
              <a:rPr lang="en-IN" sz="1000" dirty="0" err="1"/>
              <a:t>filter_events</a:t>
            </a:r>
            <a:r>
              <a:rPr lang="en-IN" sz="1000" dirty="0"/>
              <a:t>(events)</a:t>
            </a:r>
          </a:p>
          <a:p>
            <a:r>
              <a:rPr lang="en-IN" sz="1000" dirty="0"/>
              <a:t>        Split events into 30-sec windows</a:t>
            </a:r>
          </a:p>
          <a:p>
            <a:r>
              <a:rPr lang="en-IN" sz="1000" dirty="0"/>
              <a:t>        FOR each window:</a:t>
            </a:r>
          </a:p>
          <a:p>
            <a:r>
              <a:rPr lang="en-IN" sz="1000" dirty="0"/>
              <a:t>            IF enough events and nodes within limit:</a:t>
            </a:r>
          </a:p>
          <a:p>
            <a:r>
              <a:rPr lang="en-IN" sz="1000" dirty="0"/>
              <a:t>                </a:t>
            </a:r>
            <a:r>
              <a:rPr lang="en-IN" sz="1000" dirty="0" err="1"/>
              <a:t>graphs.append</a:t>
            </a:r>
            <a:r>
              <a:rPr lang="en-IN" sz="1000" dirty="0"/>
              <a:t>(</a:t>
            </a:r>
            <a:r>
              <a:rPr lang="en-IN" sz="1000" dirty="0" err="1"/>
              <a:t>build_graph</a:t>
            </a:r>
            <a:r>
              <a:rPr lang="en-IN" sz="1000" dirty="0"/>
              <a:t>(window))</a:t>
            </a:r>
          </a:p>
          <a:p>
            <a:r>
              <a:rPr lang="en-IN" sz="1000" dirty="0"/>
              <a:t>        RETURN graphs</a:t>
            </a:r>
          </a:p>
          <a:p>
            <a:endParaRPr lang="en-IN" sz="1000" dirty="0"/>
          </a:p>
        </p:txBody>
      </p:sp>
    </p:spTree>
    <p:extLst>
      <p:ext uri="{BB962C8B-B14F-4D97-AF65-F5344CB8AC3E}">
        <p14:creationId xmlns:p14="http://schemas.microsoft.com/office/powerpoint/2010/main" val="230550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pc="-1" dirty="0">
                <a:solidFill>
                  <a:schemeClr val="dk1"/>
                </a:solidFill>
                <a:latin typeface="Aptos"/>
              </a:rPr>
              <a:t>Autoencoder and Learner</a:t>
            </a:r>
            <a:endParaRPr lang="en-US" sz="4400" b="0" strike="noStrike" spc="-1" dirty="0">
              <a:solidFill>
                <a:schemeClr val="dk1"/>
              </a:solidFill>
              <a:latin typeface="Aptos"/>
            </a:endParaRPr>
          </a:p>
        </p:txBody>
      </p:sp>
      <p:sp>
        <p:nvSpPr>
          <p:cNvPr id="87" name="PlaceHolder 2"/>
          <p:cNvSpPr>
            <a:spLocks noGrp="1"/>
          </p:cNvSpPr>
          <p:nvPr>
            <p:ph/>
          </p:nvPr>
        </p:nvSpPr>
        <p:spPr>
          <a:xfrm>
            <a:off x="838080" y="1855056"/>
            <a:ext cx="10515240" cy="4350960"/>
          </a:xfrm>
          <a:prstGeom prst="rect">
            <a:avLst/>
          </a:prstGeom>
          <a:noFill/>
          <a:ln w="0">
            <a:noFill/>
          </a:ln>
        </p:spPr>
        <p:txBody>
          <a:bodyPr lIns="91440" tIns="45720" rIns="91440" bIns="45720" anchor="t">
            <a:noAutofit/>
          </a:bodyPr>
          <a:lstStyle/>
          <a:p>
            <a:pPr marL="171450" indent="-171450" algn="just">
              <a:lnSpc>
                <a:spcPct val="100000"/>
              </a:lnSpc>
              <a:buFont typeface="Arial" panose="020B0604020202020204" pitchFamily="34" charset="0"/>
              <a:buChar char="•"/>
            </a:pPr>
            <a:r>
              <a:rPr lang="en-US" sz="2400" dirty="0"/>
              <a:t>Behavior graphs are converted into a format compatible with </a:t>
            </a:r>
            <a:r>
              <a:rPr lang="en-US" sz="2400" dirty="0" err="1"/>
              <a:t>PyTorch</a:t>
            </a:r>
            <a:r>
              <a:rPr lang="en-US" sz="2400" dirty="0"/>
              <a:t> Geometric so a Graph Neural Network can process them.</a:t>
            </a:r>
          </a:p>
          <a:p>
            <a:pPr marL="171450" indent="-171450" algn="just">
              <a:lnSpc>
                <a:spcPct val="100000"/>
              </a:lnSpc>
              <a:buFont typeface="Arial" panose="020B0604020202020204" pitchFamily="34" charset="0"/>
              <a:buChar char="•"/>
            </a:pPr>
            <a:r>
              <a:rPr lang="en-US" sz="2400" dirty="0"/>
              <a:t>A Graph Autoencoder compresses node features into embeddings and tries to rebuild the original graph connections.</a:t>
            </a:r>
          </a:p>
          <a:p>
            <a:pPr marL="171450" indent="-171450" algn="just">
              <a:lnSpc>
                <a:spcPct val="100000"/>
              </a:lnSpc>
              <a:buFont typeface="Arial" panose="020B0604020202020204" pitchFamily="34" charset="0"/>
              <a:buChar char="•"/>
            </a:pPr>
            <a:r>
              <a:rPr lang="en-US" sz="2400" dirty="0"/>
              <a:t>The model is trained only on normal system behavior, so it learns what “healthy” activity looks like.</a:t>
            </a:r>
          </a:p>
          <a:p>
            <a:pPr marL="171450" indent="-171450" algn="just">
              <a:lnSpc>
                <a:spcPct val="100000"/>
              </a:lnSpc>
              <a:buFont typeface="Arial" panose="020B0604020202020204" pitchFamily="34" charset="0"/>
              <a:buChar char="•"/>
            </a:pPr>
            <a:r>
              <a:rPr lang="en-US" sz="2400" dirty="0"/>
              <a:t>If a new graph is difficult to reconstruct, the reconstruction error becomes high and is treated as the anomaly score.</a:t>
            </a:r>
          </a:p>
          <a:p>
            <a:pPr marL="171450" indent="-171450" algn="just">
              <a:lnSpc>
                <a:spcPct val="100000"/>
              </a:lnSpc>
              <a:buFont typeface="Arial" panose="020B0604020202020204" pitchFamily="34" charset="0"/>
              <a:buChar char="•"/>
            </a:pPr>
            <a:r>
              <a:rPr lang="en-US" sz="2400" dirty="0"/>
              <a:t>An alert is raised when the error goes beyond the normal range, calculated as the mean plus three standard deviations.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228600" y="3512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pc="-1" dirty="0">
                <a:solidFill>
                  <a:schemeClr val="dk1"/>
                </a:solidFill>
                <a:latin typeface="Aptos"/>
              </a:rPr>
              <a:t>Diagram and Algorithm</a:t>
            </a:r>
            <a:endParaRPr lang="en-US" sz="4400" b="0" strike="noStrike" spc="-1" dirty="0">
              <a:solidFill>
                <a:schemeClr val="dk1"/>
              </a:solidFill>
              <a:latin typeface="Aptos"/>
            </a:endParaRPr>
          </a:p>
        </p:txBody>
      </p:sp>
      <p:sp>
        <p:nvSpPr>
          <p:cNvPr id="4" name="TextBox 3">
            <a:extLst>
              <a:ext uri="{FF2B5EF4-FFF2-40B4-BE49-F238E27FC236}">
                <a16:creationId xmlns:a16="http://schemas.microsoft.com/office/drawing/2014/main" id="{571EE677-2C47-89F3-C55E-1067EBFF2D58}"/>
              </a:ext>
            </a:extLst>
          </p:cNvPr>
          <p:cNvSpPr txBox="1"/>
          <p:nvPr/>
        </p:nvSpPr>
        <p:spPr>
          <a:xfrm>
            <a:off x="8731045" y="994155"/>
            <a:ext cx="2812026" cy="5424562"/>
          </a:xfrm>
          <a:prstGeom prst="rect">
            <a:avLst/>
          </a:prstGeom>
          <a:noFill/>
        </p:spPr>
        <p:txBody>
          <a:bodyPr wrap="square" rtlCol="0">
            <a:spAutoFit/>
          </a:bodyPr>
          <a:lstStyle/>
          <a:p>
            <a:r>
              <a:rPr lang="en-IN" sz="1050" dirty="0" err="1"/>
              <a:t>GraphAutoencoder_Train</a:t>
            </a:r>
            <a:r>
              <a:rPr lang="en-IN" sz="1050" dirty="0"/>
              <a:t>(</a:t>
            </a:r>
            <a:r>
              <a:rPr lang="en-IN" sz="1050" dirty="0" err="1"/>
              <a:t>benign_graphs</a:t>
            </a:r>
            <a:r>
              <a:rPr lang="en-IN" sz="1050" dirty="0"/>
              <a:t>, epochs)</a:t>
            </a:r>
          </a:p>
          <a:p>
            <a:endParaRPr lang="en-IN" sz="1050" dirty="0"/>
          </a:p>
          <a:p>
            <a:r>
              <a:rPr lang="en-IN" sz="1050" dirty="0"/>
              <a:t>    # Step 1: Convert graphs to </a:t>
            </a:r>
            <a:r>
              <a:rPr lang="en-IN" sz="1050" dirty="0" err="1"/>
              <a:t>PyG</a:t>
            </a:r>
            <a:r>
              <a:rPr lang="en-IN" sz="1050" dirty="0"/>
              <a:t> format</a:t>
            </a:r>
          </a:p>
          <a:p>
            <a:r>
              <a:rPr lang="en-IN" sz="1050" dirty="0"/>
              <a:t>    data ← </a:t>
            </a:r>
            <a:r>
              <a:rPr lang="en-IN" sz="1050" dirty="0" err="1"/>
              <a:t>convert_to_pyg</a:t>
            </a:r>
            <a:r>
              <a:rPr lang="en-IN" sz="1050" dirty="0"/>
              <a:t>(</a:t>
            </a:r>
            <a:r>
              <a:rPr lang="en-IN" sz="1050" dirty="0" err="1"/>
              <a:t>benign_graphs</a:t>
            </a:r>
            <a:r>
              <a:rPr lang="en-IN" sz="1050" dirty="0"/>
              <a:t>)</a:t>
            </a:r>
          </a:p>
          <a:p>
            <a:endParaRPr lang="en-IN" sz="1050" dirty="0"/>
          </a:p>
          <a:p>
            <a:r>
              <a:rPr lang="en-IN" sz="1050" dirty="0"/>
              <a:t>    # Step 2: Training loop</a:t>
            </a:r>
          </a:p>
          <a:p>
            <a:r>
              <a:rPr lang="en-IN" sz="1050" dirty="0"/>
              <a:t>    FOR epoch = 1 TO epochs DO</a:t>
            </a:r>
          </a:p>
          <a:p>
            <a:r>
              <a:rPr lang="en-IN" sz="1050" dirty="0"/>
              <a:t>        FOR each graph IN data DO</a:t>
            </a:r>
          </a:p>
          <a:p>
            <a:r>
              <a:rPr lang="en-IN" sz="1050" dirty="0"/>
              <a:t>            z           ← </a:t>
            </a:r>
            <a:r>
              <a:rPr lang="en-IN" sz="1050" dirty="0" err="1"/>
              <a:t>GCN_Encode</a:t>
            </a:r>
            <a:r>
              <a:rPr lang="en-IN" sz="1050" dirty="0"/>
              <a:t>(</a:t>
            </a:r>
            <a:r>
              <a:rPr lang="en-IN" sz="1050" dirty="0" err="1"/>
              <a:t>graph.nodes</a:t>
            </a:r>
            <a:r>
              <a:rPr lang="en-IN" sz="1050" dirty="0"/>
              <a:t>, </a:t>
            </a:r>
            <a:r>
              <a:rPr lang="en-IN" sz="1050" dirty="0" err="1"/>
              <a:t>graph.edges</a:t>
            </a:r>
            <a:r>
              <a:rPr lang="en-IN" sz="1050" dirty="0"/>
              <a:t>)</a:t>
            </a:r>
          </a:p>
          <a:p>
            <a:r>
              <a:rPr lang="en-IN" sz="1050" dirty="0"/>
              <a:t>            </a:t>
            </a:r>
            <a:r>
              <a:rPr lang="en-IN" sz="1050" dirty="0" err="1"/>
              <a:t>adj_rebuilt</a:t>
            </a:r>
            <a:r>
              <a:rPr lang="en-IN" sz="1050" dirty="0"/>
              <a:t> ← sigmoid(z × zᵀ)</a:t>
            </a:r>
          </a:p>
          <a:p>
            <a:r>
              <a:rPr lang="en-IN" sz="1050" dirty="0"/>
              <a:t>            loss        ← MSE(</a:t>
            </a:r>
            <a:r>
              <a:rPr lang="en-IN" sz="1050" dirty="0" err="1"/>
              <a:t>adj_original</a:t>
            </a:r>
            <a:r>
              <a:rPr lang="en-IN" sz="1050" dirty="0"/>
              <a:t>, </a:t>
            </a:r>
            <a:r>
              <a:rPr lang="en-IN" sz="1050" dirty="0" err="1"/>
              <a:t>adj_rebuilt</a:t>
            </a:r>
            <a:r>
              <a:rPr lang="en-IN" sz="1050" dirty="0"/>
              <a:t>)</a:t>
            </a:r>
          </a:p>
          <a:p>
            <a:r>
              <a:rPr lang="en-IN" sz="1050" dirty="0"/>
              <a:t>            Backpropagate(loss)</a:t>
            </a:r>
          </a:p>
          <a:p>
            <a:r>
              <a:rPr lang="en-IN" sz="1050" dirty="0"/>
              <a:t>        END FOR</a:t>
            </a:r>
          </a:p>
          <a:p>
            <a:endParaRPr lang="en-IN" sz="1050" dirty="0"/>
          </a:p>
          <a:p>
            <a:r>
              <a:rPr lang="en-IN" sz="1050" dirty="0"/>
              <a:t>        IF </a:t>
            </a:r>
            <a:r>
              <a:rPr lang="en-IN" sz="1050" dirty="0" err="1"/>
              <a:t>validation_loss</a:t>
            </a:r>
            <a:r>
              <a:rPr lang="en-IN" sz="1050" dirty="0"/>
              <a:t> not improving THEN</a:t>
            </a:r>
          </a:p>
          <a:p>
            <a:r>
              <a:rPr lang="en-IN" sz="1050" dirty="0"/>
              <a:t>            STOP early</a:t>
            </a:r>
          </a:p>
          <a:p>
            <a:r>
              <a:rPr lang="en-IN" sz="1050" dirty="0"/>
              <a:t>    END FOR</a:t>
            </a:r>
          </a:p>
          <a:p>
            <a:endParaRPr lang="en-IN" sz="1050" dirty="0"/>
          </a:p>
          <a:p>
            <a:r>
              <a:rPr lang="en-IN" sz="1050" dirty="0"/>
              <a:t>    # Step 3: Compute normal baseline</a:t>
            </a:r>
          </a:p>
          <a:p>
            <a:r>
              <a:rPr lang="en-IN" sz="1050" dirty="0"/>
              <a:t>    errors ← empty list</a:t>
            </a:r>
          </a:p>
          <a:p>
            <a:r>
              <a:rPr lang="en-IN" sz="1050" dirty="0"/>
              <a:t>    FOR each graph IN data DO</a:t>
            </a:r>
          </a:p>
          <a:p>
            <a:r>
              <a:rPr lang="en-IN" sz="1050" dirty="0"/>
              <a:t>        </a:t>
            </a:r>
            <a:r>
              <a:rPr lang="en-IN" sz="1050" dirty="0" err="1"/>
              <a:t>errors.append</a:t>
            </a:r>
            <a:r>
              <a:rPr lang="en-IN" sz="1050" dirty="0"/>
              <a:t>(</a:t>
            </a:r>
            <a:r>
              <a:rPr lang="en-IN" sz="1050" dirty="0" err="1"/>
              <a:t>reconstruction_error</a:t>
            </a:r>
            <a:r>
              <a:rPr lang="en-IN" sz="1050" dirty="0"/>
              <a:t>(graph))</a:t>
            </a:r>
          </a:p>
          <a:p>
            <a:r>
              <a:rPr lang="en-IN" sz="1050" dirty="0"/>
              <a:t>    END FOR</a:t>
            </a:r>
          </a:p>
          <a:p>
            <a:endParaRPr lang="en-IN" sz="1050" dirty="0"/>
          </a:p>
          <a:p>
            <a:r>
              <a:rPr lang="en-IN" sz="1050" dirty="0"/>
              <a:t>    </a:t>
            </a:r>
            <a:r>
              <a:rPr lang="el-GR" sz="1050" dirty="0"/>
              <a:t>μ         ← </a:t>
            </a:r>
            <a:r>
              <a:rPr lang="en-IN" sz="1050" dirty="0"/>
              <a:t>mean(errors)</a:t>
            </a:r>
          </a:p>
          <a:p>
            <a:r>
              <a:rPr lang="en-IN" sz="1050" dirty="0"/>
              <a:t>    </a:t>
            </a:r>
            <a:r>
              <a:rPr lang="el-GR" sz="1050" dirty="0"/>
              <a:t>σ         ← </a:t>
            </a:r>
            <a:r>
              <a:rPr lang="en-IN" sz="1050" dirty="0"/>
              <a:t>std(errors)</a:t>
            </a:r>
          </a:p>
          <a:p>
            <a:r>
              <a:rPr lang="en-IN" sz="1050" dirty="0"/>
              <a:t>    threshold ← </a:t>
            </a:r>
            <a:r>
              <a:rPr lang="el-GR" sz="1050" dirty="0"/>
              <a:t>μ + 3σ</a:t>
            </a:r>
          </a:p>
          <a:p>
            <a:endParaRPr lang="el-GR" sz="1050" dirty="0"/>
          </a:p>
          <a:p>
            <a:r>
              <a:rPr lang="el-GR" sz="1050" dirty="0"/>
              <a:t>    </a:t>
            </a:r>
            <a:r>
              <a:rPr lang="en-IN" sz="1050" dirty="0"/>
              <a:t>RETURN </a:t>
            </a:r>
            <a:r>
              <a:rPr lang="en-IN" sz="1050" dirty="0" err="1"/>
              <a:t>trained_model</a:t>
            </a:r>
            <a:r>
              <a:rPr lang="en-IN" sz="1050" dirty="0"/>
              <a:t>, threshold</a:t>
            </a:r>
          </a:p>
        </p:txBody>
      </p:sp>
      <p:pic>
        <p:nvPicPr>
          <p:cNvPr id="7" name="Picture 6">
            <a:extLst>
              <a:ext uri="{FF2B5EF4-FFF2-40B4-BE49-F238E27FC236}">
                <a16:creationId xmlns:a16="http://schemas.microsoft.com/office/drawing/2014/main" id="{1C68078C-3FBD-C621-F614-2649DD04BE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724" y="1427967"/>
            <a:ext cx="6942549" cy="4599997"/>
          </a:xfrm>
          <a:prstGeom prst="rect">
            <a:avLst/>
          </a:prstGeom>
        </p:spPr>
      </p:pic>
    </p:spTree>
    <p:extLst>
      <p:ext uri="{BB962C8B-B14F-4D97-AF65-F5344CB8AC3E}">
        <p14:creationId xmlns:p14="http://schemas.microsoft.com/office/powerpoint/2010/main" val="345882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pc="-1" dirty="0">
                <a:solidFill>
                  <a:schemeClr val="dk1"/>
                </a:solidFill>
                <a:latin typeface="Aptos"/>
              </a:rPr>
              <a:t>Attack Simulator</a:t>
            </a:r>
            <a:endParaRPr lang="en-US" sz="4400" b="0" strike="noStrike" spc="-1" dirty="0">
              <a:solidFill>
                <a:schemeClr val="dk1"/>
              </a:solidFill>
              <a:latin typeface="Aptos"/>
            </a:endParaRPr>
          </a:p>
        </p:txBody>
      </p:sp>
      <p:sp>
        <p:nvSpPr>
          <p:cNvPr id="2" name="Content Placeholder 1">
            <a:extLst>
              <a:ext uri="{FF2B5EF4-FFF2-40B4-BE49-F238E27FC236}">
                <a16:creationId xmlns:a16="http://schemas.microsoft.com/office/drawing/2014/main" id="{737FBAB8-B1BB-9F82-D1D3-6DC14AF41348}"/>
              </a:ext>
            </a:extLst>
          </p:cNvPr>
          <p:cNvSpPr>
            <a:spLocks noGrp="1" noChangeArrowheads="1"/>
          </p:cNvSpPr>
          <p:nvPr>
            <p:ph/>
          </p:nvPr>
        </p:nvSpPr>
        <p:spPr bwMode="auto">
          <a:xfrm>
            <a:off x="838080" y="1690200"/>
            <a:ext cx="9545320" cy="433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a:ln>
                  <a:noFill/>
                </a:ln>
                <a:solidFill>
                  <a:schemeClr val="tx1"/>
                </a:solidFill>
                <a:effectLst/>
                <a:latin typeface="Arial" panose="020B0604020202020204" pitchFamily="34" charset="0"/>
              </a:rPr>
              <a:t>The system simulates three attack types: reverse shell, privilege escalation, and data exfiltration, to test detection capability under different threat scenarios.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a:ln>
                  <a:noFill/>
                </a:ln>
                <a:solidFill>
                  <a:schemeClr val="tx1"/>
                </a:solidFill>
                <a:effectLst/>
                <a:latin typeface="Arial" panose="020B0604020202020204" pitchFamily="34" charset="0"/>
              </a:rPr>
              <a:t>Each attack is modeled as a realistic multi-stage sequence, such as gaining access, spawning a shell, accessing sensitive data, and then sending it outside the system.</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a:ln>
                  <a:noFill/>
                </a:ln>
                <a:solidFill>
                  <a:schemeClr val="tx1"/>
                </a:solidFill>
                <a:effectLst/>
                <a:latin typeface="Arial" panose="020B0604020202020204" pitchFamily="34" charset="0"/>
              </a:rPr>
              <a:t>Attack events are blended with normal background system activity so the environment resembles real-world traffic instead of isolated attacks.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300" b="0" i="0" u="none" strike="noStrike" cap="none" normalizeH="0" baseline="0" dirty="0">
                <a:ln>
                  <a:noFill/>
                </a:ln>
                <a:solidFill>
                  <a:schemeClr val="tx1"/>
                </a:solidFill>
                <a:effectLst/>
                <a:latin typeface="Arial" panose="020B0604020202020204" pitchFamily="34" charset="0"/>
              </a:rPr>
              <a:t>The simulations include connections to suspicious IP addresses, communication over common command-and-control ports, and access to sensitive files such as </a:t>
            </a:r>
            <a:r>
              <a:rPr kumimoji="0" lang="en-US" altLang="en-US" sz="2300" b="0" i="0" u="none" strike="noStrike" cap="none" normalizeH="0" baseline="0" dirty="0">
                <a:ln>
                  <a:noFill/>
                </a:ln>
                <a:solidFill>
                  <a:schemeClr val="tx1"/>
                </a:solidFill>
                <a:effectLst/>
                <a:latin typeface="Arial Unicode MS"/>
              </a:rPr>
              <a:t>/</a:t>
            </a:r>
            <a:r>
              <a:rPr kumimoji="0" lang="en-US" altLang="en-US" sz="2300" b="0" i="0" u="none" strike="noStrike" cap="none" normalizeH="0" baseline="0" dirty="0" err="1">
                <a:ln>
                  <a:noFill/>
                </a:ln>
                <a:solidFill>
                  <a:schemeClr val="tx1"/>
                </a:solidFill>
                <a:effectLst/>
                <a:latin typeface="Arial Unicode MS"/>
              </a:rPr>
              <a:t>etc</a:t>
            </a:r>
            <a:r>
              <a:rPr kumimoji="0" lang="en-US" altLang="en-US" sz="2300" b="0" i="0" u="none" strike="noStrike" cap="none" normalizeH="0" baseline="0" dirty="0">
                <a:ln>
                  <a:noFill/>
                </a:ln>
                <a:solidFill>
                  <a:schemeClr val="tx1"/>
                </a:solidFill>
                <a:effectLst/>
                <a:latin typeface="Arial Unicode MS"/>
              </a:rPr>
              <a:t>/shadow</a:t>
            </a:r>
            <a:r>
              <a:rPr kumimoji="0" lang="en-US" altLang="en-US" sz="2300" b="0" i="0" u="none" strike="noStrike" cap="none" normalizeH="0" baseline="0" dirty="0">
                <a:ln>
                  <a:noFill/>
                </a:ln>
                <a:solidFill>
                  <a:schemeClr val="tx1"/>
                </a:solidFill>
                <a:effectLst/>
              </a:rPr>
              <a:t> and SSH keys.</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03318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pc="-1" dirty="0">
                <a:solidFill>
                  <a:schemeClr val="dk1"/>
                </a:solidFill>
                <a:latin typeface="Aptos"/>
              </a:rPr>
              <a:t>Diagram and Algorithm</a:t>
            </a:r>
            <a:endParaRPr lang="en-US" sz="4400" b="0" strike="noStrike" spc="-1" dirty="0">
              <a:solidFill>
                <a:schemeClr val="dk1"/>
              </a:solidFill>
              <a:latin typeface="Aptos"/>
            </a:endParaRPr>
          </a:p>
        </p:txBody>
      </p:sp>
      <p:pic>
        <p:nvPicPr>
          <p:cNvPr id="4" name="Content Placeholder 3">
            <a:extLst>
              <a:ext uri="{FF2B5EF4-FFF2-40B4-BE49-F238E27FC236}">
                <a16:creationId xmlns:a16="http://schemas.microsoft.com/office/drawing/2014/main" id="{0B4BB70A-EA26-0973-B9B8-25BE36B0064C}"/>
              </a:ext>
            </a:extLst>
          </p:cNvPr>
          <p:cNvPicPr>
            <a:picLocks noGrp="1" noChangeAspect="1"/>
          </p:cNvPicPr>
          <p:nvPr>
            <p:ph/>
          </p:nvPr>
        </p:nvPicPr>
        <p:blipFill>
          <a:blip r:embed="rId2"/>
          <a:stretch>
            <a:fillRect/>
          </a:stretch>
        </p:blipFill>
        <p:spPr bwMode="auto">
          <a:xfrm>
            <a:off x="141653" y="2581745"/>
            <a:ext cx="8363250" cy="2747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133EDF6B-2A32-76A1-DF3C-F2059069FC1F}"/>
              </a:ext>
            </a:extLst>
          </p:cNvPr>
          <p:cNvSpPr txBox="1"/>
          <p:nvPr/>
        </p:nvSpPr>
        <p:spPr>
          <a:xfrm>
            <a:off x="9035846" y="208727"/>
            <a:ext cx="2723535" cy="6817251"/>
          </a:xfrm>
          <a:prstGeom prst="rect">
            <a:avLst/>
          </a:prstGeom>
          <a:noFill/>
        </p:spPr>
        <p:txBody>
          <a:bodyPr wrap="square" rtlCol="0">
            <a:spAutoFit/>
          </a:bodyPr>
          <a:lstStyle/>
          <a:p>
            <a:r>
              <a:rPr lang="en-IN" sz="950" dirty="0"/>
              <a:t>CLASS </a:t>
            </a:r>
            <a:r>
              <a:rPr lang="en-IN" sz="950" dirty="0" err="1"/>
              <a:t>EnhancedAttackSimulator</a:t>
            </a:r>
            <a:endParaRPr lang="en-IN" sz="950" dirty="0"/>
          </a:p>
          <a:p>
            <a:endParaRPr lang="en-IN" sz="950" dirty="0"/>
          </a:p>
          <a:p>
            <a:r>
              <a:rPr lang="en-IN" sz="950" dirty="0"/>
              <a:t>    INIT:</a:t>
            </a:r>
          </a:p>
          <a:p>
            <a:r>
              <a:rPr lang="en-IN" sz="950" dirty="0"/>
              <a:t>        </a:t>
            </a:r>
            <a:r>
              <a:rPr lang="en-IN" sz="950" dirty="0" err="1"/>
              <a:t>sensitive_files</a:t>
            </a:r>
            <a:r>
              <a:rPr lang="en-IN" sz="950" dirty="0"/>
              <a:t>, </a:t>
            </a:r>
            <a:r>
              <a:rPr lang="en-IN" sz="950" dirty="0" err="1"/>
              <a:t>suspicious_sockets</a:t>
            </a:r>
            <a:r>
              <a:rPr lang="en-IN" sz="950" dirty="0"/>
              <a:t>,</a:t>
            </a:r>
          </a:p>
          <a:p>
            <a:r>
              <a:rPr lang="en-IN" sz="950" dirty="0"/>
              <a:t>        </a:t>
            </a:r>
            <a:r>
              <a:rPr lang="en-IN" sz="950" dirty="0" err="1"/>
              <a:t>attack_processes</a:t>
            </a:r>
            <a:r>
              <a:rPr lang="en-IN" sz="950" dirty="0"/>
              <a:t>, </a:t>
            </a:r>
            <a:r>
              <a:rPr lang="en-IN" sz="950" dirty="0" err="1"/>
              <a:t>normal_processes</a:t>
            </a:r>
            <a:endParaRPr lang="en-IN" sz="950" dirty="0"/>
          </a:p>
          <a:p>
            <a:endParaRPr lang="en-IN" sz="950" dirty="0"/>
          </a:p>
          <a:p>
            <a:endParaRPr lang="en-IN" sz="950" dirty="0"/>
          </a:p>
          <a:p>
            <a:r>
              <a:rPr lang="en-IN" sz="950" dirty="0"/>
              <a:t>    FUNCTION </a:t>
            </a:r>
            <a:r>
              <a:rPr lang="en-IN" sz="950" dirty="0" err="1"/>
              <a:t>generate_normal_background</a:t>
            </a:r>
            <a:r>
              <a:rPr lang="en-IN" sz="950" dirty="0"/>
              <a:t>(n):</a:t>
            </a:r>
          </a:p>
          <a:p>
            <a:r>
              <a:rPr lang="en-IN" sz="950" dirty="0"/>
              <a:t>        RETURN n normal </a:t>
            </a:r>
            <a:r>
              <a:rPr lang="en-IN" sz="950" dirty="0" err="1"/>
              <a:t>RawEvents</a:t>
            </a:r>
            <a:endParaRPr lang="en-IN" sz="950" dirty="0"/>
          </a:p>
          <a:p>
            <a:endParaRPr lang="en-IN" sz="950" dirty="0"/>
          </a:p>
          <a:p>
            <a:endParaRPr lang="en-IN" sz="950" dirty="0"/>
          </a:p>
          <a:p>
            <a:r>
              <a:rPr lang="en-IN" sz="950" dirty="0"/>
              <a:t>    FUNCTION </a:t>
            </a:r>
            <a:r>
              <a:rPr lang="en-IN" sz="950" dirty="0" err="1"/>
              <a:t>generate_reverse_shell_attack</a:t>
            </a:r>
            <a:r>
              <a:rPr lang="en-IN" sz="950" dirty="0"/>
              <a:t>():</a:t>
            </a:r>
          </a:p>
          <a:p>
            <a:r>
              <a:rPr lang="en-IN" sz="950" dirty="0"/>
              <a:t>        events ← </a:t>
            </a:r>
            <a:r>
              <a:rPr lang="en-IN" sz="950" dirty="0" err="1"/>
              <a:t>generate_normal_background</a:t>
            </a:r>
            <a:r>
              <a:rPr lang="en-IN" sz="950" dirty="0"/>
              <a:t>(300)</a:t>
            </a:r>
          </a:p>
          <a:p>
            <a:r>
              <a:rPr lang="en-IN" sz="950" dirty="0"/>
              <a:t>        Apache → exec bash</a:t>
            </a:r>
          </a:p>
          <a:p>
            <a:r>
              <a:rPr lang="en-IN" sz="950" dirty="0"/>
              <a:t>        Bash   → connect C2</a:t>
            </a:r>
          </a:p>
          <a:p>
            <a:r>
              <a:rPr lang="en-IN" sz="950" dirty="0"/>
              <a:t>        Bash   → read sensitive files</a:t>
            </a:r>
          </a:p>
          <a:p>
            <a:r>
              <a:rPr lang="en-IN" sz="950" dirty="0"/>
              <a:t>        Bash   → write to C2</a:t>
            </a:r>
          </a:p>
          <a:p>
            <a:r>
              <a:rPr lang="en-IN" sz="950" dirty="0"/>
              <a:t>        RETURN events</a:t>
            </a:r>
          </a:p>
          <a:p>
            <a:endParaRPr lang="en-IN" sz="950" dirty="0"/>
          </a:p>
          <a:p>
            <a:endParaRPr lang="en-IN" sz="950" dirty="0"/>
          </a:p>
          <a:p>
            <a:r>
              <a:rPr lang="en-IN" sz="950" dirty="0"/>
              <a:t>    FUNCTION </a:t>
            </a:r>
            <a:r>
              <a:rPr lang="en-IN" sz="950" dirty="0" err="1"/>
              <a:t>generate_privilege_escalation_attack</a:t>
            </a:r>
            <a:r>
              <a:rPr lang="en-IN" sz="950" dirty="0"/>
              <a:t>():</a:t>
            </a:r>
          </a:p>
          <a:p>
            <a:r>
              <a:rPr lang="en-IN" sz="950" dirty="0"/>
              <a:t>        events ← </a:t>
            </a:r>
            <a:r>
              <a:rPr lang="en-IN" sz="950" dirty="0" err="1"/>
              <a:t>generate_normal_background</a:t>
            </a:r>
            <a:r>
              <a:rPr lang="en-IN" sz="950" dirty="0"/>
              <a:t>(250)</a:t>
            </a:r>
          </a:p>
          <a:p>
            <a:r>
              <a:rPr lang="en-IN" sz="950" dirty="0"/>
              <a:t>        www-data → read </a:t>
            </a:r>
            <a:r>
              <a:rPr lang="en-IN" sz="950" dirty="0" err="1"/>
              <a:t>sudoers</a:t>
            </a:r>
            <a:r>
              <a:rPr lang="en-IN" sz="950" dirty="0"/>
              <a:t>/shadow</a:t>
            </a:r>
          </a:p>
          <a:p>
            <a:r>
              <a:rPr lang="en-IN" sz="950" dirty="0"/>
              <a:t>        www-data → </a:t>
            </a:r>
            <a:r>
              <a:rPr lang="en-IN" sz="950" dirty="0" err="1"/>
              <a:t>setuid</a:t>
            </a:r>
            <a:r>
              <a:rPr lang="en-IN" sz="950" dirty="0"/>
              <a:t>(root)</a:t>
            </a:r>
          </a:p>
          <a:p>
            <a:r>
              <a:rPr lang="en-IN" sz="950" dirty="0"/>
              <a:t>        www-data → exec </a:t>
            </a:r>
            <a:r>
              <a:rPr lang="en-IN" sz="950" dirty="0" err="1"/>
              <a:t>sudo</a:t>
            </a:r>
            <a:r>
              <a:rPr lang="en-IN" sz="950" dirty="0"/>
              <a:t>/</a:t>
            </a:r>
            <a:r>
              <a:rPr lang="en-IN" sz="950" dirty="0" err="1"/>
              <a:t>su</a:t>
            </a:r>
            <a:r>
              <a:rPr lang="en-IN" sz="950" dirty="0"/>
              <a:t>/</a:t>
            </a:r>
            <a:r>
              <a:rPr lang="en-IN" sz="950" dirty="0" err="1"/>
              <a:t>pkexec</a:t>
            </a:r>
            <a:endParaRPr lang="en-IN" sz="950" dirty="0"/>
          </a:p>
          <a:p>
            <a:r>
              <a:rPr lang="en-IN" sz="950" dirty="0"/>
              <a:t>        root     → mass read sensitive files</a:t>
            </a:r>
          </a:p>
          <a:p>
            <a:r>
              <a:rPr lang="en-IN" sz="950" dirty="0"/>
              <a:t>        RETURN events</a:t>
            </a:r>
          </a:p>
          <a:p>
            <a:endParaRPr lang="en-IN" sz="950" dirty="0"/>
          </a:p>
          <a:p>
            <a:endParaRPr lang="en-IN" sz="950" dirty="0"/>
          </a:p>
          <a:p>
            <a:r>
              <a:rPr lang="en-IN" sz="950" dirty="0"/>
              <a:t>    FUNCTION </a:t>
            </a:r>
            <a:r>
              <a:rPr lang="en-IN" sz="950" dirty="0" err="1"/>
              <a:t>generate_data_exfiltration_attack</a:t>
            </a:r>
            <a:r>
              <a:rPr lang="en-IN" sz="950" dirty="0"/>
              <a:t>():</a:t>
            </a:r>
          </a:p>
          <a:p>
            <a:r>
              <a:rPr lang="en-IN" sz="950" dirty="0"/>
              <a:t>        events ← </a:t>
            </a:r>
            <a:r>
              <a:rPr lang="en-IN" sz="950" dirty="0" err="1"/>
              <a:t>generate_normal_background</a:t>
            </a:r>
            <a:r>
              <a:rPr lang="en-IN" sz="950" dirty="0"/>
              <a:t>(200)</a:t>
            </a:r>
          </a:p>
          <a:p>
            <a:r>
              <a:rPr lang="en-IN" sz="950" dirty="0"/>
              <a:t>        Python → mass read sensitive files</a:t>
            </a:r>
          </a:p>
          <a:p>
            <a:r>
              <a:rPr lang="en-IN" sz="950" dirty="0"/>
              <a:t>        Python → compress data</a:t>
            </a:r>
          </a:p>
          <a:p>
            <a:r>
              <a:rPr lang="en-IN" sz="950" dirty="0"/>
              <a:t>        Python → connect external server</a:t>
            </a:r>
          </a:p>
          <a:p>
            <a:r>
              <a:rPr lang="en-IN" sz="950" dirty="0"/>
              <a:t>        Python → send data out</a:t>
            </a:r>
          </a:p>
          <a:p>
            <a:r>
              <a:rPr lang="en-IN" sz="950" dirty="0"/>
              <a:t>        RETURN events</a:t>
            </a:r>
          </a:p>
          <a:p>
            <a:endParaRPr lang="en-IN" sz="950" dirty="0"/>
          </a:p>
          <a:p>
            <a:endParaRPr lang="en-IN" sz="950" dirty="0"/>
          </a:p>
          <a:p>
            <a:r>
              <a:rPr lang="en-IN" sz="950" dirty="0"/>
              <a:t>    FUNCTION </a:t>
            </a:r>
            <a:r>
              <a:rPr lang="en-IN" sz="950" dirty="0" err="1"/>
              <a:t>generate_all_attacks</a:t>
            </a:r>
            <a:r>
              <a:rPr lang="en-IN" sz="950" dirty="0"/>
              <a:t>():</a:t>
            </a:r>
          </a:p>
          <a:p>
            <a:r>
              <a:rPr lang="en-IN" sz="950" dirty="0"/>
              <a:t>        RETURN </a:t>
            </a:r>
            <a:r>
              <a:rPr lang="en-IN" sz="950" dirty="0" err="1"/>
              <a:t>sort_by_timestamp</a:t>
            </a:r>
            <a:r>
              <a:rPr lang="en-IN" sz="950" dirty="0"/>
              <a:t>(</a:t>
            </a:r>
          </a:p>
          <a:p>
            <a:r>
              <a:rPr lang="en-IN" sz="950" dirty="0"/>
              <a:t>            </a:t>
            </a:r>
            <a:r>
              <a:rPr lang="en-IN" sz="950" dirty="0" err="1"/>
              <a:t>reverse_shell</a:t>
            </a:r>
            <a:r>
              <a:rPr lang="en-IN" sz="950" dirty="0"/>
              <a:t> + </a:t>
            </a:r>
            <a:r>
              <a:rPr lang="en-IN" sz="950" dirty="0" err="1"/>
              <a:t>privilege_escalation</a:t>
            </a:r>
            <a:r>
              <a:rPr lang="en-IN" sz="950" dirty="0"/>
              <a:t> + </a:t>
            </a:r>
            <a:r>
              <a:rPr lang="en-IN" sz="950" dirty="0" err="1"/>
              <a:t>data_exfiltration</a:t>
            </a:r>
            <a:endParaRPr lang="en-IN" sz="950" dirty="0"/>
          </a:p>
          <a:p>
            <a:r>
              <a:rPr lang="en-IN" sz="950" dirty="0"/>
              <a:t>        )</a:t>
            </a:r>
          </a:p>
          <a:p>
            <a:endParaRPr lang="en-IN" sz="950" dirty="0"/>
          </a:p>
        </p:txBody>
      </p:sp>
    </p:spTree>
    <p:extLst>
      <p:ext uri="{BB962C8B-B14F-4D97-AF65-F5344CB8AC3E}">
        <p14:creationId xmlns:p14="http://schemas.microsoft.com/office/powerpoint/2010/main" val="24402785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179318" y="24125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dirty="0">
                <a:solidFill>
                  <a:schemeClr val="dk1"/>
                </a:solidFill>
                <a:latin typeface="Aptos"/>
              </a:rPr>
              <a:t>DATASET/TECHNOLOGIES</a:t>
            </a:r>
          </a:p>
        </p:txBody>
      </p:sp>
      <p:sp>
        <p:nvSpPr>
          <p:cNvPr id="2" name="Content Placeholder 1">
            <a:extLst>
              <a:ext uri="{FF2B5EF4-FFF2-40B4-BE49-F238E27FC236}">
                <a16:creationId xmlns:a16="http://schemas.microsoft.com/office/drawing/2014/main" id="{737FBAB8-B1BB-9F82-D1D3-6DC14AF41348}"/>
              </a:ext>
            </a:extLst>
          </p:cNvPr>
          <p:cNvSpPr>
            <a:spLocks noGrp="1" noChangeArrowheads="1"/>
          </p:cNvSpPr>
          <p:nvPr>
            <p:ph/>
          </p:nvPr>
        </p:nvSpPr>
        <p:spPr bwMode="auto">
          <a:xfrm>
            <a:off x="179318" y="1566410"/>
            <a:ext cx="8256759" cy="502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Python 3.x - Core programming language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err="1">
                <a:ln>
                  <a:noFill/>
                </a:ln>
                <a:solidFill>
                  <a:schemeClr val="tx1"/>
                </a:solidFill>
                <a:effectLst/>
                <a:latin typeface="Arial" panose="020B0604020202020204" pitchFamily="34" charset="0"/>
              </a:rPr>
              <a:t>PyTorch</a:t>
            </a:r>
            <a:r>
              <a:rPr kumimoji="0" lang="en-US" altLang="en-US" sz="1800" b="0" i="0" u="none" strike="noStrike" cap="none" normalizeH="0" baseline="0" dirty="0">
                <a:ln>
                  <a:noFill/>
                </a:ln>
                <a:solidFill>
                  <a:schemeClr val="tx1"/>
                </a:solidFill>
                <a:effectLst/>
                <a:latin typeface="Arial" panose="020B0604020202020204" pitchFamily="34" charset="0"/>
              </a:rPr>
              <a:t> - Neural network framework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err="1">
                <a:ln>
                  <a:noFill/>
                </a:ln>
                <a:solidFill>
                  <a:schemeClr val="tx1"/>
                </a:solidFill>
                <a:effectLst/>
                <a:latin typeface="Arial" panose="020B0604020202020204" pitchFamily="34" charset="0"/>
              </a:rPr>
              <a:t>PyTorch</a:t>
            </a:r>
            <a:r>
              <a:rPr kumimoji="0" lang="en-US" altLang="en-US" sz="1800" b="0" i="0" u="none" strike="noStrike" cap="none" normalizeH="0" baseline="0" dirty="0">
                <a:ln>
                  <a:noFill/>
                </a:ln>
                <a:solidFill>
                  <a:schemeClr val="tx1"/>
                </a:solidFill>
                <a:effectLst/>
                <a:latin typeface="Arial" panose="020B0604020202020204" pitchFamily="34" charset="0"/>
              </a:rPr>
              <a:t> Geometric (</a:t>
            </a:r>
            <a:r>
              <a:rPr kumimoji="0" lang="en-US" altLang="en-US" sz="1800" b="0" i="0" u="none" strike="noStrike" cap="none" normalizeH="0" baseline="0" dirty="0" err="1">
                <a:ln>
                  <a:noFill/>
                </a:ln>
                <a:solidFill>
                  <a:schemeClr val="tx1"/>
                </a:solidFill>
                <a:effectLst/>
                <a:latin typeface="Arial" panose="020B0604020202020204" pitchFamily="34" charset="0"/>
              </a:rPr>
              <a:t>PyG</a:t>
            </a:r>
            <a:r>
              <a:rPr kumimoji="0" lang="en-US" altLang="en-US" sz="1800" b="0" i="0" u="none" strike="noStrike" cap="none" normalizeH="0" baseline="0" dirty="0">
                <a:ln>
                  <a:noFill/>
                </a:ln>
                <a:solidFill>
                  <a:schemeClr val="tx1"/>
                </a:solidFill>
                <a:effectLst/>
                <a:latin typeface="Arial" panose="020B0604020202020204" pitchFamily="34" charset="0"/>
              </a:rPr>
              <a:t>) - Graph neural networks and graph data handling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err="1">
                <a:ln>
                  <a:noFill/>
                </a:ln>
                <a:solidFill>
                  <a:schemeClr val="tx1"/>
                </a:solidFill>
                <a:effectLst/>
                <a:latin typeface="Arial" panose="020B0604020202020204" pitchFamily="34" charset="0"/>
              </a:rPr>
              <a:t>NetworkX</a:t>
            </a:r>
            <a:r>
              <a:rPr kumimoji="0" lang="en-US" altLang="en-US" sz="1800" b="0" i="0" u="none" strike="noStrike" cap="none" normalizeH="0" baseline="0" dirty="0">
                <a:ln>
                  <a:noFill/>
                </a:ln>
                <a:solidFill>
                  <a:schemeClr val="tx1"/>
                </a:solidFill>
                <a:effectLst/>
                <a:latin typeface="Arial" panose="020B0604020202020204" pitchFamily="34" charset="0"/>
              </a:rPr>
              <a:t> - Graph construction and visualization layout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NumPy - Feature computation and statistical analysis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Scikit-learn - Evaluation metrics (Precision, Recall, F1, ROC, AUC)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err="1">
                <a:ln>
                  <a:noFill/>
                </a:ln>
                <a:solidFill>
                  <a:schemeClr val="tx1"/>
                </a:solidFill>
                <a:effectLst/>
                <a:latin typeface="Arial" panose="020B0604020202020204" pitchFamily="34" charset="0"/>
              </a:rPr>
              <a:t>psutil</a:t>
            </a:r>
            <a:r>
              <a:rPr kumimoji="0" lang="en-US" altLang="en-US" sz="1800" b="0" i="0" u="none" strike="noStrike" cap="none" normalizeH="0" baseline="0" dirty="0">
                <a:ln>
                  <a:noFill/>
                </a:ln>
                <a:solidFill>
                  <a:schemeClr val="tx1"/>
                </a:solidFill>
                <a:effectLst/>
                <a:latin typeface="Arial" panose="020B0604020202020204" pitchFamily="34" charset="0"/>
              </a:rPr>
              <a:t> - Process, CPU, and network monitoring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Watchdog - Real-time file system monitoring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pywin32 - Windows event log access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Matplotlib - Graph plots, training curves, ROC curves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Flask - Live monitoring dashboard (planned)  </a:t>
            </a:r>
          </a:p>
          <a:p>
            <a:pPr marR="0" lvl="0" algn="just" defTabSz="914400" rtl="0" eaLnBrk="0" fontAlgn="base" latinLnBrk="0" hangingPunct="0">
              <a:lnSpc>
                <a:spcPct val="15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JSON / CSV - Detection logs and alert data storage </a:t>
            </a:r>
          </a:p>
        </p:txBody>
      </p:sp>
      <p:cxnSp>
        <p:nvCxnSpPr>
          <p:cNvPr id="4" name="Straight Connector 3">
            <a:extLst>
              <a:ext uri="{FF2B5EF4-FFF2-40B4-BE49-F238E27FC236}">
                <a16:creationId xmlns:a16="http://schemas.microsoft.com/office/drawing/2014/main" id="{49E17288-2714-AC1C-C45F-F327DC4CE7E3}"/>
              </a:ext>
            </a:extLst>
          </p:cNvPr>
          <p:cNvCxnSpPr>
            <a:cxnSpLocks/>
          </p:cNvCxnSpPr>
          <p:nvPr/>
        </p:nvCxnSpPr>
        <p:spPr>
          <a:xfrm>
            <a:off x="8209935" y="1406013"/>
            <a:ext cx="0" cy="51874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7EAEBBD-8DA4-7364-2868-8AC24BB3598F}"/>
              </a:ext>
            </a:extLst>
          </p:cNvPr>
          <p:cNvSpPr txBox="1"/>
          <p:nvPr/>
        </p:nvSpPr>
        <p:spPr>
          <a:xfrm>
            <a:off x="8436077" y="1566410"/>
            <a:ext cx="3352799" cy="4801314"/>
          </a:xfrm>
          <a:prstGeom prst="rect">
            <a:avLst/>
          </a:prstGeom>
          <a:noFill/>
        </p:spPr>
        <p:txBody>
          <a:bodyPr wrap="square" rtlCol="0">
            <a:spAutoFit/>
          </a:bodyPr>
          <a:lstStyle/>
          <a:p>
            <a:r>
              <a:rPr lang="en-IN" dirty="0"/>
              <a:t>Dataset Source: Real-Time System Operations (No External Dataset)</a:t>
            </a:r>
          </a:p>
          <a:p>
            <a:endParaRPr lang="en-IN" dirty="0"/>
          </a:p>
          <a:p>
            <a:r>
              <a:rPr lang="en-IN" dirty="0" err="1"/>
              <a:t>psutil</a:t>
            </a:r>
            <a:r>
              <a:rPr lang="en-IN" dirty="0"/>
              <a:t> - Process creation, termination, network connections  </a:t>
            </a:r>
          </a:p>
          <a:p>
            <a:endParaRPr lang="en-IN" dirty="0"/>
          </a:p>
          <a:p>
            <a:r>
              <a:rPr lang="en-IN" dirty="0"/>
              <a:t>Watchdog - File reads, writes, modifications, deletions  </a:t>
            </a:r>
          </a:p>
          <a:p>
            <a:endParaRPr lang="en-IN" dirty="0"/>
          </a:p>
          <a:p>
            <a:r>
              <a:rPr lang="en-IN" dirty="0"/>
              <a:t>pywin32 - Windows security and system event logs  </a:t>
            </a:r>
          </a:p>
          <a:p>
            <a:endParaRPr lang="en-IN" dirty="0"/>
          </a:p>
          <a:p>
            <a:r>
              <a:rPr lang="en-IN" dirty="0" err="1"/>
              <a:t>EnhancedAttackSimulator</a:t>
            </a:r>
            <a:r>
              <a:rPr lang="en-IN" dirty="0"/>
              <a:t> - Synthetic attack event generation</a:t>
            </a:r>
          </a:p>
        </p:txBody>
      </p:sp>
    </p:spTree>
    <p:extLst>
      <p:ext uri="{BB962C8B-B14F-4D97-AF65-F5344CB8AC3E}">
        <p14:creationId xmlns:p14="http://schemas.microsoft.com/office/powerpoint/2010/main" val="2519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pc="-1" dirty="0">
                <a:solidFill>
                  <a:schemeClr val="dk1"/>
                </a:solidFill>
                <a:latin typeface="Aptos"/>
              </a:rPr>
              <a:t>OUTPUT</a:t>
            </a:r>
            <a:endParaRPr lang="en-US" sz="4400" b="0" strike="noStrike" spc="-1" dirty="0">
              <a:solidFill>
                <a:schemeClr val="dk1"/>
              </a:solidFill>
              <a:latin typeface="Aptos"/>
            </a:endParaRPr>
          </a:p>
        </p:txBody>
      </p:sp>
      <p:sp>
        <p:nvSpPr>
          <p:cNvPr id="2" name="Content Placeholder 1">
            <a:extLst>
              <a:ext uri="{FF2B5EF4-FFF2-40B4-BE49-F238E27FC236}">
                <a16:creationId xmlns:a16="http://schemas.microsoft.com/office/drawing/2014/main" id="{737FBAB8-B1BB-9F82-D1D3-6DC14AF41348}"/>
              </a:ext>
            </a:extLst>
          </p:cNvPr>
          <p:cNvSpPr>
            <a:spLocks noGrp="1" noChangeArrowheads="1"/>
          </p:cNvSpPr>
          <p:nvPr>
            <p:ph/>
          </p:nvPr>
        </p:nvSpPr>
        <p:spPr bwMode="auto">
          <a:xfrm>
            <a:off x="838080" y="3636887"/>
            <a:ext cx="9545320"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lang="en-US" altLang="en-US" sz="2300" dirty="0">
                <a:latin typeface="Arial" panose="020B0604020202020204" pitchFamily="34" charset="0"/>
              </a:rPr>
              <a:t>IMAGE HERE</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6A5CA9A5-2A89-FEF5-DD76-AE645A4A14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07934"/>
            <a:ext cx="12192000" cy="4504181"/>
          </a:xfrm>
          <a:prstGeom prst="rect">
            <a:avLst/>
          </a:prstGeom>
        </p:spPr>
      </p:pic>
    </p:spTree>
    <p:extLst>
      <p:ext uri="{BB962C8B-B14F-4D97-AF65-F5344CB8AC3E}">
        <p14:creationId xmlns:p14="http://schemas.microsoft.com/office/powerpoint/2010/main" val="410790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pc="-1" dirty="0">
                <a:solidFill>
                  <a:schemeClr val="dk1"/>
                </a:solidFill>
                <a:latin typeface="Aptos"/>
              </a:rPr>
              <a:t>OUTPUT</a:t>
            </a:r>
            <a:endParaRPr lang="en-US" sz="4400" b="0" strike="noStrike" spc="-1" dirty="0">
              <a:solidFill>
                <a:schemeClr val="dk1"/>
              </a:solidFill>
              <a:latin typeface="Aptos"/>
            </a:endParaRPr>
          </a:p>
        </p:txBody>
      </p:sp>
      <p:pic>
        <p:nvPicPr>
          <p:cNvPr id="3" name="Content Placeholder 2">
            <a:extLst>
              <a:ext uri="{FF2B5EF4-FFF2-40B4-BE49-F238E27FC236}">
                <a16:creationId xmlns:a16="http://schemas.microsoft.com/office/drawing/2014/main" id="{15A34E9B-EDE4-2039-2950-DBA3C4880505}"/>
              </a:ext>
            </a:extLst>
          </p:cNvPr>
          <p:cNvPicPr>
            <a:picLocks noGrp="1" noChangeAspect="1"/>
          </p:cNvPicPr>
          <p:nvPr>
            <p:ph/>
          </p:nvPr>
        </p:nvPicPr>
        <p:blipFill>
          <a:blip r:embed="rId2" cstate="print">
            <a:extLst>
              <a:ext uri="{28A0092B-C50C-407E-A947-70E740481C1C}">
                <a14:useLocalDpi xmlns:a14="http://schemas.microsoft.com/office/drawing/2010/main" val="0"/>
              </a:ext>
            </a:extLst>
          </a:blip>
          <a:stretch>
            <a:fillRect/>
          </a:stretch>
        </p:blipFill>
        <p:spPr>
          <a:xfrm>
            <a:off x="1728591" y="2091847"/>
            <a:ext cx="8542751" cy="3407079"/>
          </a:xfrm>
          <a:prstGeom prst="rect">
            <a:avLst/>
          </a:prstGeom>
        </p:spPr>
      </p:pic>
    </p:spTree>
    <p:extLst>
      <p:ext uri="{BB962C8B-B14F-4D97-AF65-F5344CB8AC3E}">
        <p14:creationId xmlns:p14="http://schemas.microsoft.com/office/powerpoint/2010/main" val="11049592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pc="-1" dirty="0">
                <a:solidFill>
                  <a:schemeClr val="dk1"/>
                </a:solidFill>
                <a:latin typeface="Aptos"/>
              </a:rPr>
              <a:t>OUTPUT</a:t>
            </a:r>
            <a:endParaRPr lang="en-US" sz="4400" b="0" strike="noStrike" spc="-1" dirty="0">
              <a:solidFill>
                <a:schemeClr val="dk1"/>
              </a:solidFill>
              <a:latin typeface="Aptos"/>
            </a:endParaRPr>
          </a:p>
        </p:txBody>
      </p:sp>
      <p:pic>
        <p:nvPicPr>
          <p:cNvPr id="4" name="Content Placeholder 3">
            <a:extLst>
              <a:ext uri="{FF2B5EF4-FFF2-40B4-BE49-F238E27FC236}">
                <a16:creationId xmlns:a16="http://schemas.microsoft.com/office/drawing/2014/main" id="{F021C953-65D2-058C-633C-1C18D8D07335}"/>
              </a:ext>
            </a:extLst>
          </p:cNvPr>
          <p:cNvPicPr>
            <a:picLocks noGrp="1" noChangeAspect="1"/>
          </p:cNvPicPr>
          <p:nvPr>
            <p:ph/>
          </p:nvPr>
        </p:nvPicPr>
        <p:blipFill>
          <a:blip r:embed="rId2"/>
          <a:stretch>
            <a:fillRect/>
          </a:stretch>
        </p:blipFill>
        <p:spPr bwMode="auto">
          <a:xfrm>
            <a:off x="1565753" y="2016691"/>
            <a:ext cx="7816241" cy="3945698"/>
          </a:xfrm>
          <a:prstGeom prst="rect">
            <a:avLst/>
          </a:prstGeom>
          <a:noFill/>
          <a:ln w="0">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68833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pc="-1" dirty="0">
                <a:solidFill>
                  <a:schemeClr val="dk1"/>
                </a:solidFill>
                <a:latin typeface="Aptos"/>
              </a:rPr>
              <a:t>OUTPUT</a:t>
            </a:r>
            <a:endParaRPr lang="en-US" sz="4400" b="0" strike="noStrike" spc="-1" dirty="0">
              <a:solidFill>
                <a:schemeClr val="dk1"/>
              </a:solidFill>
              <a:latin typeface="Aptos"/>
            </a:endParaRPr>
          </a:p>
        </p:txBody>
      </p:sp>
      <p:pic>
        <p:nvPicPr>
          <p:cNvPr id="6" name="Content Placeholder 5">
            <a:extLst>
              <a:ext uri="{FF2B5EF4-FFF2-40B4-BE49-F238E27FC236}">
                <a16:creationId xmlns:a16="http://schemas.microsoft.com/office/drawing/2014/main" id="{69822175-4E20-6C9A-0226-5AEACC7A6AB9}"/>
              </a:ext>
            </a:extLst>
          </p:cNvPr>
          <p:cNvPicPr>
            <a:picLocks noGrp="1" noChangeAspect="1"/>
          </p:cNvPicPr>
          <p:nvPr>
            <p:ph/>
          </p:nvPr>
        </p:nvPicPr>
        <p:blipFill>
          <a:blip r:embed="rId2"/>
          <a:stretch>
            <a:fillRect/>
          </a:stretch>
        </p:blipFill>
        <p:spPr bwMode="auto">
          <a:xfrm>
            <a:off x="2442576" y="2181758"/>
            <a:ext cx="6901840" cy="4156412"/>
          </a:xfrm>
          <a:prstGeom prst="rect">
            <a:avLst/>
          </a:prstGeom>
          <a:noFill/>
          <a:ln w="0">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8638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z="4400" b="0" strike="noStrike" spc="-1" dirty="0">
                <a:solidFill>
                  <a:schemeClr val="dk1"/>
                </a:solidFill>
                <a:latin typeface="Aptos"/>
              </a:rPr>
              <a:t>IMPLEMENTATION VIDEO</a:t>
            </a:r>
          </a:p>
        </p:txBody>
      </p:sp>
      <p:sp>
        <p:nvSpPr>
          <p:cNvPr id="2" name="Content Placeholder 1">
            <a:extLst>
              <a:ext uri="{FF2B5EF4-FFF2-40B4-BE49-F238E27FC236}">
                <a16:creationId xmlns:a16="http://schemas.microsoft.com/office/drawing/2014/main" id="{737FBAB8-B1BB-9F82-D1D3-6DC14AF41348}"/>
              </a:ext>
            </a:extLst>
          </p:cNvPr>
          <p:cNvSpPr>
            <a:spLocks noGrp="1" noChangeArrowheads="1"/>
          </p:cNvSpPr>
          <p:nvPr>
            <p:ph/>
          </p:nvPr>
        </p:nvSpPr>
        <p:spPr bwMode="auto">
          <a:xfrm>
            <a:off x="838080" y="3636887"/>
            <a:ext cx="9545320"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lang="en-US" altLang="en-US" sz="2300" dirty="0">
                <a:latin typeface="Arial" panose="020B0604020202020204" pitchFamily="34" charset="0"/>
              </a:rPr>
              <a:t>VIDEO HERE</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25573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defTabSz="914400">
              <a:lnSpc>
                <a:spcPct val="90000"/>
              </a:lnSpc>
              <a:buNone/>
            </a:pPr>
            <a:r>
              <a:rPr lang="en-US" spc="-1" dirty="0">
                <a:solidFill>
                  <a:schemeClr val="dk1"/>
                </a:solidFill>
                <a:latin typeface="Aptos"/>
              </a:rPr>
              <a:t>REFERENCES</a:t>
            </a:r>
            <a:endParaRPr lang="en-US" sz="4400" b="0" strike="noStrike" spc="-1" dirty="0">
              <a:solidFill>
                <a:schemeClr val="dk1"/>
              </a:solidFill>
              <a:latin typeface="Aptos"/>
            </a:endParaRPr>
          </a:p>
        </p:txBody>
      </p:sp>
      <p:sp>
        <p:nvSpPr>
          <p:cNvPr id="2" name="Content Placeholder 1">
            <a:extLst>
              <a:ext uri="{FF2B5EF4-FFF2-40B4-BE49-F238E27FC236}">
                <a16:creationId xmlns:a16="http://schemas.microsoft.com/office/drawing/2014/main" id="{737FBAB8-B1BB-9F82-D1D3-6DC14AF41348}"/>
              </a:ext>
            </a:extLst>
          </p:cNvPr>
          <p:cNvSpPr>
            <a:spLocks noGrp="1" noChangeArrowheads="1"/>
          </p:cNvSpPr>
          <p:nvPr>
            <p:ph/>
          </p:nvPr>
        </p:nvSpPr>
        <p:spPr bwMode="auto">
          <a:xfrm>
            <a:off x="838080" y="3636887"/>
            <a:ext cx="9545320"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defTabSz="914400" rtl="0" eaLnBrk="0" fontAlgn="base" latinLnBrk="0" hangingPunct="0">
              <a:lnSpc>
                <a:spcPct val="100000"/>
              </a:lnSpc>
              <a:spcBef>
                <a:spcPct val="0"/>
              </a:spcBef>
              <a:spcAft>
                <a:spcPct val="0"/>
              </a:spcAft>
              <a:buClrTx/>
              <a:buSzTx/>
              <a:tabLst/>
            </a:pPr>
            <a:r>
              <a:rPr lang="en-US" altLang="en-US" sz="2300" dirty="0">
                <a:latin typeface="Arial" panose="020B0604020202020204" pitchFamily="34" charset="0"/>
              </a:rPr>
              <a:t>TEXT HERE</a:t>
            </a:r>
            <a:endParaRPr kumimoji="0" lang="en-US" altLang="en-US" sz="23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5187339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577</TotalTime>
  <Words>2380</Words>
  <Application>Microsoft Office PowerPoint</Application>
  <PresentationFormat>Widescreen</PresentationFormat>
  <Paragraphs>266</Paragraphs>
  <Slides>25</Slides>
  <Notes>0</Notes>
  <HiddenSlides>0</HiddenSlides>
  <MMClips>0</MMClips>
  <ScaleCrop>false</ScaleCrop>
  <HeadingPairs>
    <vt:vector size="6" baseType="variant">
      <vt:variant>
        <vt:lpstr>Fonts Used</vt:lpstr>
      </vt:variant>
      <vt:variant>
        <vt:i4>8</vt:i4>
      </vt:variant>
      <vt:variant>
        <vt:lpstr>Theme</vt:lpstr>
      </vt:variant>
      <vt:variant>
        <vt:i4>11</vt:i4>
      </vt:variant>
      <vt:variant>
        <vt:lpstr>Slide Titles</vt:lpstr>
      </vt:variant>
      <vt:variant>
        <vt:i4>25</vt:i4>
      </vt:variant>
    </vt:vector>
  </HeadingPairs>
  <TitlesOfParts>
    <vt:vector size="44" baseType="lpstr">
      <vt:lpstr>Aptos</vt:lpstr>
      <vt:lpstr>Aptos Display</vt:lpstr>
      <vt:lpstr>Arial</vt:lpstr>
      <vt:lpstr>Arial Unicode MS</vt:lpstr>
      <vt:lpstr>Symbol</vt:lpstr>
      <vt:lpstr>Times New Roman</vt:lpstr>
      <vt:lpstr>Tw Cen MT</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  1ST REVIEW     A Self-Supervised Behavioral Graph Framework for Zero-Day Cyber Attack Detection with Continual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Module wise description </vt:lpstr>
      <vt:lpstr>Diagram and Algorithm</vt:lpstr>
      <vt:lpstr>Behavioral Graph Constructor</vt:lpstr>
      <vt:lpstr>Diagram and Algorithm</vt:lpstr>
      <vt:lpstr>Autoencoder and Learner</vt:lpstr>
      <vt:lpstr>Diagram and Algorithm</vt:lpstr>
      <vt:lpstr>Attack Simulator</vt:lpstr>
      <vt:lpstr>Diagram and Algorithm</vt:lpstr>
      <vt:lpstr>DATASET/TECHNOLOGIES</vt:lpstr>
      <vt:lpstr>OUTPUT</vt:lpstr>
      <vt:lpstr>OUTPUT</vt:lpstr>
      <vt:lpstr>OUTPUT</vt:lpstr>
      <vt:lpstr>OUTPUT</vt:lpstr>
      <vt:lpstr>IMPLEMENTATION VIDEO</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UET4Rec: A Hybrid U-Net and Transformer Model for Sequential Recommendations</dc:title>
  <dc:subject/>
  <dc:creator>Pavitra N</dc:creator>
  <dc:description/>
  <cp:lastModifiedBy>Sashank Gopalan</cp:lastModifiedBy>
  <cp:revision>580</cp:revision>
  <dcterms:created xsi:type="dcterms:W3CDTF">2024-09-08T18:24:00Z</dcterms:created>
  <dcterms:modified xsi:type="dcterms:W3CDTF">2026-02-13T05:20:51Z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395BF3FA45394774955B4F5F53212BFA_12</vt:lpwstr>
  </property>
  <property fmtid="{D5CDD505-2E9C-101B-9397-08002B2CF9AE}" pid="3" name="KSOProductBuildVer">
    <vt:lpwstr>1033-12.2.0.18607</vt:lpwstr>
  </property>
  <property fmtid="{D5CDD505-2E9C-101B-9397-08002B2CF9AE}" pid="4" name="PresentationFormat">
    <vt:lpwstr>Widescreen</vt:lpwstr>
  </property>
  <property fmtid="{D5CDD505-2E9C-101B-9397-08002B2CF9AE}" pid="5" name="Slides">
    <vt:i4>17</vt:i4>
  </property>
</Properties>
</file>